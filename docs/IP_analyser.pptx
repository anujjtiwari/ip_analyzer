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8" r:id="rId8"/>
    <p:sldId id="267" r:id="rId9"/>
    <p:sldId id="262" r:id="rId10"/>
    <p:sldId id="263" r:id="rId11"/>
    <p:sldId id="266" r:id="rId12"/>
    <p:sldId id="264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29"/>
    <p:restoredTop sz="94609"/>
  </p:normalViewPr>
  <p:slideViewPr>
    <p:cSldViewPr snapToGrid="0">
      <p:cViewPr varScale="1">
        <p:scale>
          <a:sx n="151" d="100"/>
          <a:sy n="151" d="100"/>
        </p:scale>
        <p:origin x="896" y="20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255810-97CB-9546-938B-8000B30BFC28}" type="datetimeFigureOut">
              <a:rPr lang="en-US" smtClean="0"/>
              <a:t>11/27/24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445152C-1717-9B41-8DA4-81E3AB3B93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0463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C32C4-E424-2B03-52C9-2A88A1E913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B705D3-FEEB-547D-76AB-B40C905A0A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8D5814-52B1-693B-CB5E-D0B682E9E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51283F-D78B-D24B-8AF2-09D6AD9AFD24}" type="datetime1">
              <a:rPr lang="en-IN" smtClean="0"/>
              <a:t>27/11/24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B1FB0D-47DB-17FC-F1B7-008D09BB2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20F38E-68F7-4417-D372-F560D4232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681E7-DB3C-4A49-B808-4F416837DB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81735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DCBFB6-52A4-8D3E-9407-BAE6ED94F0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09CC7-1157-3897-B0C0-E361F3DBDC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62C811-3F63-9C69-C0B6-E67CD66404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1454D-A4CA-DC4A-B243-34876CAA8093}" type="datetime1">
              <a:rPr lang="en-IN" smtClean="0"/>
              <a:t>27/11/24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D5256B-1213-5C20-C9B2-EB9D0F818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4EE07A-07AD-12D1-D942-F1E723ED9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681E7-DB3C-4A49-B808-4F416837DB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27442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4EAE8-4684-2BBF-4411-74F98D653B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1378E9-2300-40F0-12B3-73789C4DBB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DABBBC-3DC8-837C-C747-B1AFF9FA94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2CD136-4F4A-FD42-83BF-5DA8C96F46D8}" type="datetime1">
              <a:rPr lang="en-IN" smtClean="0"/>
              <a:t>27/11/24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6BC291-A602-BD75-4245-B82A41943B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E023AF-F76E-6D90-027F-E289D4358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681E7-DB3C-4A49-B808-4F416837DB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4101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A29B5C-9DDB-DCA3-A6DD-BC2B4E7B99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0A1E38-59D7-1841-27F4-451323EA65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F44CEB-0EC7-A6EF-D4B0-6B7E8F90C4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1F9930-731E-6C3C-4999-3C1EC4B698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8C430B-FDAC-B74D-8F9F-52E3D8368A32}" type="datetime1">
              <a:rPr lang="en-IN" smtClean="0"/>
              <a:t>27/11/24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FB8625-1C28-2EB3-B3F3-6687C07833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235825-32EF-E811-0176-175C0E73B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681E7-DB3C-4A49-B808-4F416837DB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6411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49918-E567-F4C8-6AD9-84692C4C5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AD5EBE-AFD6-43EC-52D9-76397B2A94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49F186-692A-F29D-7E4B-AD77D06313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D15C3C-2D52-446E-6D41-F86717C1446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A5A4F6-BE7E-9F0A-9564-2FBF1FADDF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3E99CEA-1894-3B3D-3FF1-4456F6BEAB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54645-7B48-3647-912F-AB6CF57CA4AA}" type="datetime1">
              <a:rPr lang="en-IN" smtClean="0"/>
              <a:t>27/11/24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AC991B-0F60-199E-1AD5-A0F7A869E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FE218B-04C8-80A8-3C41-EC1870C7EA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681E7-DB3C-4A49-B808-4F416837DB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8654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5ECD0-06D3-E3EF-4855-57BAA2D68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33639D1-5C94-EC4B-5401-AD060944F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34290-FA9A-D048-A162-C5BE2BA9DB69}" type="datetime1">
              <a:rPr lang="en-IN" smtClean="0"/>
              <a:t>27/11/24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E11F25-54EC-C50F-886C-3B09B098D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D93169-D833-7930-E530-1177CC91B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681E7-DB3C-4A49-B808-4F416837DB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5469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15CBB5-612E-B25C-DA37-DCD4059C73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F27B7-FFBC-DD48-85B0-015E8BE4EF5D}" type="datetime1">
              <a:rPr lang="en-IN" smtClean="0"/>
              <a:t>27/11/24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9C3A40B-5C58-658B-2379-7FE4B8428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E11B58-0A8E-599B-5438-73C7D4B74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681E7-DB3C-4A49-B808-4F416837DB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310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6C64F1-A5D5-2287-B739-0499C53ECA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411E85-D3B7-3D71-F778-3BB35225F0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E573CE-E60B-288E-125C-EC1D16F63E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6DEEBA-7D9D-8D15-64DF-A8CD19343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D08C84-82F3-ED41-A1C0-F1B02C6D2031}" type="datetime1">
              <a:rPr lang="en-IN" smtClean="0"/>
              <a:t>27/11/24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AFFAFC-92B8-4F5F-AB79-A5A97BACA8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BD464D-8016-8346-E5F2-428FDAE93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681E7-DB3C-4A49-B808-4F416837DB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4776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EF2AB-FC1F-CFCB-8D12-3DDEA4C002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4AD025-958E-9709-2198-043414C44A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A5C6E2-1CFB-C94C-6C50-ABF2C3A2F2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F5461DC-B22B-4EB5-D09A-E2C7B33F6F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FDBAED-2C48-944D-A16D-CB2389784B12}" type="datetime1">
              <a:rPr lang="en-IN" smtClean="0"/>
              <a:t>27/11/24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8D1A88-ECA6-6FC7-E238-53EB34B86B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12E909-B424-82CB-7287-E029836AA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681E7-DB3C-4A49-B808-4F416837DB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09890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2F5112-F04A-8BA5-6CA7-8B4C107F1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71EC71-4976-D59C-0882-67D03DECB5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437603-66EF-AF3D-6319-6237387454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064084-0EA2-F749-A398-206544F5E1BC}" type="datetime1">
              <a:rPr lang="en-IN" smtClean="0"/>
              <a:t>27/11/24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5835FB-FA7A-B6F5-2217-0D52A9FDD9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2717C9-7B53-3070-8F72-42CDCF0CE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681E7-DB3C-4A49-B808-4F416837DB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4562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6641A48-B78D-FB11-495C-43762C8A7BA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A0C397-56F0-0D80-EE98-25CDEE519C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179783-D91B-6B0E-A740-15BE29A039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7FDC0B-8293-484C-BD2F-928E78E8FBB1}" type="datetime1">
              <a:rPr lang="en-IN" smtClean="0"/>
              <a:t>27/11/24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BCBA45-B1A8-2166-0FD3-F2FCB6652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C93AC4-05E3-2D0A-01C0-E7374D869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681E7-DB3C-4A49-B808-4F416837DB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1211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E4D5030-5D26-42D5-C308-34D9AF6080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202AEC-AC02-5627-B142-6A5711FE12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375098-4BB4-C840-BB72-C35016AC2C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514896-41AA-064A-80DB-EA737677DF7F}" type="datetime1">
              <a:rPr lang="en-IN" smtClean="0"/>
              <a:t>27/11/24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B16DC7-3459-4942-E578-A62492409E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74D9D9-F988-F0D4-CD2D-6E55AB9C12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1681E7-DB3C-4A49-B808-4F416837DB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3204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ipanalyzer.in/" TargetMode="Externa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715748-E573-3637-03A9-51F8E22CCCC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IP Analyzer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57F5EE-BAAE-EECC-3F27-40F9F5BF79A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Cebajel</a:t>
            </a:r>
            <a:r>
              <a:rPr lang="en-US" dirty="0"/>
              <a:t> </a:t>
            </a:r>
            <a:r>
              <a:rPr lang="en-US" dirty="0" err="1"/>
              <a:t>Tanan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71616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C0831-930C-60CF-DA78-F75633923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F8BA97-2F07-F6B5-4F1D-7E8B2F577C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  <a:p>
            <a:r>
              <a:rPr lang="en-US" dirty="0"/>
              <a:t>Design</a:t>
            </a:r>
          </a:p>
          <a:p>
            <a:r>
              <a:rPr lang="en-US" dirty="0"/>
              <a:t>Database</a:t>
            </a:r>
          </a:p>
          <a:p>
            <a:r>
              <a:rPr lang="en-US" dirty="0"/>
              <a:t>Features</a:t>
            </a:r>
          </a:p>
          <a:p>
            <a:r>
              <a:rPr lang="en-US" dirty="0"/>
              <a:t>Summary</a:t>
            </a:r>
          </a:p>
          <a:p>
            <a:r>
              <a:rPr lang="en-US" dirty="0"/>
              <a:t>Demo</a:t>
            </a:r>
          </a:p>
          <a:p>
            <a:r>
              <a:rPr lang="en-US" dirty="0"/>
              <a:t>Further Research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27B92A-3502-99AA-A581-FEC28A3C0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681E7-DB3C-4A49-B808-4F416837DBED}" type="slidenum">
              <a:rPr lang="en-US" smtClean="0"/>
              <a:t>2</a:t>
            </a:fld>
            <a:r>
              <a:rPr lang="en-US" dirty="0"/>
              <a:t>/12</a:t>
            </a:r>
          </a:p>
        </p:txBody>
      </p:sp>
    </p:spTree>
    <p:extLst>
      <p:ext uri="{BB962C8B-B14F-4D97-AF65-F5344CB8AC3E}">
        <p14:creationId xmlns:p14="http://schemas.microsoft.com/office/powerpoint/2010/main" val="24515402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BDD73-DD96-239C-FCC7-BBF7CBB89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36967F-72A9-CA36-0926-8C4836C100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</a:pPr>
            <a:r>
              <a:rPr lang="en-US" dirty="0"/>
              <a:t>IP Analyzer is an information gathering tool.</a:t>
            </a:r>
          </a:p>
          <a:p>
            <a:pPr>
              <a:lnSpc>
                <a:spcPct val="150000"/>
              </a:lnSpc>
            </a:pPr>
            <a:r>
              <a:rPr lang="en-US" dirty="0"/>
              <a:t>Has features dedicated for firms.</a:t>
            </a:r>
          </a:p>
          <a:p>
            <a:pPr>
              <a:lnSpc>
                <a:spcPct val="150000"/>
              </a:lnSpc>
            </a:pPr>
            <a:r>
              <a:rPr lang="en-US" dirty="0"/>
              <a:t>Analyzes IP addresses/domains and provides following information: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geo-location 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host reputation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grey-list inspection</a:t>
            </a:r>
          </a:p>
          <a:p>
            <a:pPr lvl="1">
              <a:lnSpc>
                <a:spcPct val="100000"/>
              </a:lnSpc>
            </a:pPr>
            <a:r>
              <a:rPr lang="en-US" dirty="0" err="1"/>
              <a:t>Whois</a:t>
            </a:r>
            <a:r>
              <a:rPr lang="en-US" dirty="0"/>
              <a:t> and Port Scanning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User Reports</a:t>
            </a:r>
          </a:p>
          <a:p>
            <a:pPr>
              <a:lnSpc>
                <a:spcPct val="100000"/>
              </a:lnSpc>
            </a:pPr>
            <a:r>
              <a:rPr lang="en-US" dirty="0"/>
              <a:t>Motivation: No tool found which provides all these features.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E0AD44-EA3B-1240-38B3-5FC1CA09E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681E7-DB3C-4A49-B808-4F416837DBED}" type="slidenum">
              <a:rPr lang="en-US" smtClean="0"/>
              <a:t>3</a:t>
            </a:fld>
            <a:r>
              <a:rPr lang="en-US" dirty="0"/>
              <a:t>/12</a:t>
            </a:r>
          </a:p>
        </p:txBody>
      </p:sp>
    </p:spTree>
    <p:extLst>
      <p:ext uri="{BB962C8B-B14F-4D97-AF65-F5344CB8AC3E}">
        <p14:creationId xmlns:p14="http://schemas.microsoft.com/office/powerpoint/2010/main" val="34110953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9524CB-82F9-C4E0-962D-718B12E7E7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1C8DAC-97E0-6CDB-3591-EF91589631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>
              <a:lnSpc>
                <a:spcPct val="150000"/>
              </a:lnSpc>
            </a:pPr>
            <a:r>
              <a:rPr lang="en-US" dirty="0"/>
              <a:t>IP Analyzer is coded with Django as backend and Angular as frontend.</a:t>
            </a:r>
          </a:p>
          <a:p>
            <a:pPr>
              <a:lnSpc>
                <a:spcPct val="150000"/>
              </a:lnSpc>
            </a:pPr>
            <a:endParaRPr lang="en-US" dirty="0"/>
          </a:p>
          <a:p>
            <a:pPr>
              <a:lnSpc>
                <a:spcPct val="150000"/>
              </a:lnSpc>
            </a:pPr>
            <a:endParaRPr lang="en-US" dirty="0"/>
          </a:p>
          <a:p>
            <a:pPr>
              <a:lnSpc>
                <a:spcPct val="150000"/>
              </a:lnSpc>
            </a:pPr>
            <a:endParaRPr lang="en-US" dirty="0"/>
          </a:p>
          <a:p>
            <a:pPr marL="0" indent="0">
              <a:lnSpc>
                <a:spcPct val="150000"/>
              </a:lnSpc>
              <a:buNone/>
            </a:pPr>
            <a:endParaRPr lang="en-US" dirty="0"/>
          </a:p>
          <a:p>
            <a:pPr>
              <a:lnSpc>
                <a:spcPct val="150000"/>
              </a:lnSpc>
            </a:pPr>
            <a:r>
              <a:rPr lang="en-US" dirty="0"/>
              <a:t>Multiple APIs are used for querying multiple databases across the world.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6A292B-2267-225B-61BB-CC585E544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681E7-DB3C-4A49-B808-4F416837DBED}" type="slidenum">
              <a:rPr lang="en-US" smtClean="0"/>
              <a:t>4</a:t>
            </a:fld>
            <a:r>
              <a:rPr lang="en-US" dirty="0"/>
              <a:t>/12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D050FC-DACE-EFDB-41FD-B23DC7613AED}"/>
              </a:ext>
            </a:extLst>
          </p:cNvPr>
          <p:cNvSpPr txBox="1"/>
          <p:nvPr/>
        </p:nvSpPr>
        <p:spPr>
          <a:xfrm>
            <a:off x="838200" y="2637467"/>
            <a:ext cx="9833592" cy="2727653"/>
          </a:xfrm>
          <a:prstGeom prst="rect">
            <a:avLst/>
          </a:prstGeom>
          <a:noFill/>
        </p:spPr>
        <p:txBody>
          <a:bodyPr wrap="square" numCol="2" spcCol="72000" rtlCol="0"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/>
              <a:t>Why Django?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/>
              <a:t>High Security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/>
              <a:t>High Scalability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/>
              <a:t>Python-Based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/>
              <a:t>Why Angular?</a:t>
            </a: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/>
              <a:t>Well Structured</a:t>
            </a: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/>
              <a:t>High Flexibility</a:t>
            </a: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/>
              <a:t>Two-way Data Binding</a:t>
            </a:r>
          </a:p>
        </p:txBody>
      </p:sp>
    </p:spTree>
    <p:extLst>
      <p:ext uri="{BB962C8B-B14F-4D97-AF65-F5344CB8AC3E}">
        <p14:creationId xmlns:p14="http://schemas.microsoft.com/office/powerpoint/2010/main" val="31003642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1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047E0-D476-FEA5-36CB-D8F557447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Database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459225-1888-8E71-630B-9F6CE2B3A5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pPr>
              <a:lnSpc>
                <a:spcPct val="100000"/>
              </a:lnSpc>
            </a:pPr>
            <a:r>
              <a:rPr lang="en-US" dirty="0"/>
              <a:t>MongoDB is used for storing user credentials, logs and latest information of searched IP addresses/domains.</a:t>
            </a:r>
          </a:p>
          <a:p>
            <a:pPr>
              <a:lnSpc>
                <a:spcPct val="150000"/>
              </a:lnSpc>
            </a:pPr>
            <a:r>
              <a:rPr lang="en-US" dirty="0"/>
              <a:t>Why MongoDB?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Highly Scalable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Horizontal scaling features like replication and </a:t>
            </a:r>
            <a:r>
              <a:rPr lang="en-US" dirty="0" err="1"/>
              <a:t>sharding</a:t>
            </a:r>
            <a:endParaRPr lang="en-US" dirty="0"/>
          </a:p>
          <a:p>
            <a:pPr lvl="1">
              <a:lnSpc>
                <a:spcPct val="150000"/>
              </a:lnSpc>
            </a:pPr>
            <a:r>
              <a:rPr lang="en-US" dirty="0"/>
              <a:t>Optimal Load Balancing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283A2B-7988-EE4E-D09A-16B14B409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681E7-DB3C-4A49-B808-4F416837DBED}" type="slidenum">
              <a:rPr lang="en-US" smtClean="0"/>
              <a:t>5</a:t>
            </a:fld>
            <a:r>
              <a:rPr lang="en-US" dirty="0"/>
              <a:t>/12</a:t>
            </a:r>
          </a:p>
        </p:txBody>
      </p:sp>
    </p:spTree>
    <p:extLst>
      <p:ext uri="{BB962C8B-B14F-4D97-AF65-F5344CB8AC3E}">
        <p14:creationId xmlns:p14="http://schemas.microsoft.com/office/powerpoint/2010/main" val="27807529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1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6C59EE-450B-3C78-307B-25F6BBC9F2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167383-A1F7-4AF4-BCED-5968802576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3072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IP Analyzer provides following features:</a:t>
            </a:r>
          </a:p>
          <a:p>
            <a:pPr>
              <a:lnSpc>
                <a:spcPct val="150000"/>
              </a:lnSpc>
            </a:pPr>
            <a:endParaRPr lang="en-US" dirty="0"/>
          </a:p>
          <a:p>
            <a:pPr marL="0" indent="0">
              <a:lnSpc>
                <a:spcPct val="150000"/>
              </a:lnSpc>
              <a:buNone/>
            </a:pPr>
            <a:endParaRPr lang="en-US" dirty="0"/>
          </a:p>
          <a:p>
            <a:pPr>
              <a:lnSpc>
                <a:spcPct val="150000"/>
              </a:lnSpc>
            </a:pPr>
            <a:r>
              <a:rPr lang="en-US" dirty="0"/>
              <a:t>It has option to retrieve cached information from database.</a:t>
            </a:r>
          </a:p>
          <a:p>
            <a:pPr>
              <a:lnSpc>
                <a:spcPct val="150000"/>
              </a:lnSpc>
            </a:pPr>
            <a:r>
              <a:rPr lang="en-US" dirty="0"/>
              <a:t>Uses web tokens to prevent CSRF attacks.</a:t>
            </a:r>
          </a:p>
          <a:p>
            <a:pPr>
              <a:lnSpc>
                <a:spcPct val="150000"/>
              </a:lnSpc>
            </a:pPr>
            <a:r>
              <a:rPr lang="en-US" dirty="0"/>
              <a:t>Two-factor Authentication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345C5D-5998-7BF3-18FB-65D79DF38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681E7-DB3C-4A49-B808-4F416837DBED}" type="slidenum">
              <a:rPr lang="en-US" smtClean="0"/>
              <a:t>6</a:t>
            </a:fld>
            <a:r>
              <a:rPr lang="en-US" dirty="0"/>
              <a:t>/12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7518B4-33A9-DF79-813F-C8FB1C7798F8}"/>
              </a:ext>
            </a:extLst>
          </p:cNvPr>
          <p:cNvSpPr txBox="1"/>
          <p:nvPr/>
        </p:nvSpPr>
        <p:spPr>
          <a:xfrm>
            <a:off x="838200" y="2408720"/>
            <a:ext cx="11062252" cy="1697068"/>
          </a:xfrm>
          <a:prstGeom prst="rect">
            <a:avLst/>
          </a:prstGeom>
          <a:noFill/>
        </p:spPr>
        <p:txBody>
          <a:bodyPr wrap="square" numCol="3" rtlCol="0">
            <a:spAutoFit/>
          </a:bodyPr>
          <a:lstStyle/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IP Geolocation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Host reputation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Grey List Inspection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Port Scanning and Ping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WHOIS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DIG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User Reports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Abuse Score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/>
              <a:t>User Management</a:t>
            </a:r>
          </a:p>
        </p:txBody>
      </p:sp>
    </p:spTree>
    <p:extLst>
      <p:ext uri="{BB962C8B-B14F-4D97-AF65-F5344CB8AC3E}">
        <p14:creationId xmlns:p14="http://schemas.microsoft.com/office/powerpoint/2010/main" val="237260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5366E-A2FF-FAF5-BB83-7FC77896A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Reports and Abuse Score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52D187-2C48-E4B3-6DDB-8EC985BDC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use </a:t>
            </a:r>
            <a:r>
              <a:rPr lang="en-US" dirty="0" err="1"/>
              <a:t>AbsueIPDB</a:t>
            </a:r>
            <a:r>
              <a:rPr lang="en-US" dirty="0"/>
              <a:t> to retrieve user reports and abuse score.</a:t>
            </a:r>
          </a:p>
          <a:p>
            <a:endParaRPr lang="en-US" dirty="0"/>
          </a:p>
          <a:p>
            <a:r>
              <a:rPr lang="en-US" dirty="0"/>
              <a:t>Why </a:t>
            </a:r>
            <a:r>
              <a:rPr lang="en-US" dirty="0" err="1"/>
              <a:t>AbuseIPDB</a:t>
            </a:r>
            <a:r>
              <a:rPr lang="en-US" dirty="0"/>
              <a:t>?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Independent Score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Huge and frequently</a:t>
            </a:r>
            <a:br>
              <a:rPr lang="en-US" dirty="0"/>
            </a:br>
            <a:r>
              <a:rPr lang="en-US" dirty="0"/>
              <a:t> updated Database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Weighted Score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01C8C8-01FB-A52A-DB08-4D94AF265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681E7-DB3C-4A49-B808-4F416837DBED}" type="slidenum">
              <a:rPr lang="en-US" smtClean="0"/>
              <a:t>7</a:t>
            </a:fld>
            <a:r>
              <a:rPr lang="en-US" dirty="0"/>
              <a:t>/12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18DA8D-0522-7151-D0A2-190F415056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5251" y="2300820"/>
            <a:ext cx="6546575" cy="4192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66782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D80994B-5352-70B1-8B3E-196B714D2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85512" y="6356350"/>
            <a:ext cx="568287" cy="365125"/>
          </a:xfrm>
        </p:spPr>
        <p:txBody>
          <a:bodyPr/>
          <a:lstStyle/>
          <a:p>
            <a:fld id="{761681E7-DB3C-4A49-B808-4F416837DBED}" type="slidenum">
              <a:rPr lang="en-US" smtClean="0"/>
              <a:t>8</a:t>
            </a:fld>
            <a:r>
              <a:rPr lang="en-US" dirty="0"/>
              <a:t>/12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BB151AA-4A90-2ABF-6B2A-164D1B7EF1BF}"/>
              </a:ext>
            </a:extLst>
          </p:cNvPr>
          <p:cNvSpPr/>
          <p:nvPr/>
        </p:nvSpPr>
        <p:spPr>
          <a:xfrm>
            <a:off x="1137715" y="4189662"/>
            <a:ext cx="905448" cy="5619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Sign Up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FFB8112-119C-F90B-B749-EF9998563E24}"/>
              </a:ext>
            </a:extLst>
          </p:cNvPr>
          <p:cNvGrpSpPr/>
          <p:nvPr/>
        </p:nvGrpSpPr>
        <p:grpSpPr>
          <a:xfrm>
            <a:off x="4051791" y="1747800"/>
            <a:ext cx="1707410" cy="561998"/>
            <a:chOff x="4051791" y="1747800"/>
            <a:chExt cx="1707410" cy="561998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848CD848-5995-2817-CB4B-20236838D753}"/>
                </a:ext>
              </a:extLst>
            </p:cNvPr>
            <p:cNvSpPr/>
            <p:nvPr/>
          </p:nvSpPr>
          <p:spPr>
            <a:xfrm>
              <a:off x="4853753" y="1747800"/>
              <a:ext cx="905448" cy="561998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Home</a:t>
              </a: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325482A8-A5B8-FB40-45A2-F2932C0B523A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>
              <a:off x="4051791" y="2028799"/>
              <a:ext cx="80196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43BA449-46C6-2588-6071-B1098F1768F9}"/>
              </a:ext>
            </a:extLst>
          </p:cNvPr>
          <p:cNvGrpSpPr/>
          <p:nvPr/>
        </p:nvGrpSpPr>
        <p:grpSpPr>
          <a:xfrm>
            <a:off x="1137716" y="1747800"/>
            <a:ext cx="2045312" cy="2445619"/>
            <a:chOff x="1137716" y="1747800"/>
            <a:chExt cx="2045312" cy="2445619"/>
          </a:xfrm>
        </p:grpSpPr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CFF9C147-F6E3-8252-1F32-24B59BFB08C2}"/>
                </a:ext>
              </a:extLst>
            </p:cNvPr>
            <p:cNvSpPr/>
            <p:nvPr/>
          </p:nvSpPr>
          <p:spPr>
            <a:xfrm>
              <a:off x="1137716" y="1747800"/>
              <a:ext cx="905448" cy="561998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Sign In</a:t>
              </a:r>
            </a:p>
          </p:txBody>
        </p:sp>
        <p:cxnSp>
          <p:nvCxnSpPr>
            <p:cNvPr id="42" name="Curved Connector 41">
              <a:extLst>
                <a:ext uri="{FF2B5EF4-FFF2-40B4-BE49-F238E27FC236}">
                  <a16:creationId xmlns:a16="http://schemas.microsoft.com/office/drawing/2014/main" id="{9EF2D18B-5A38-F01E-1C38-7FB006FC285B}"/>
                </a:ext>
              </a:extLst>
            </p:cNvPr>
            <p:cNvCxnSpPr>
              <a:stCxn id="15" idx="0"/>
              <a:endCxn id="3" idx="2"/>
            </p:cNvCxnSpPr>
            <p:nvPr/>
          </p:nvCxnSpPr>
          <p:spPr>
            <a:xfrm rot="16200000" flipV="1">
              <a:off x="1444924" y="2455315"/>
              <a:ext cx="1883621" cy="1592587"/>
            </a:xfrm>
            <a:prstGeom prst="curvedConnector3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062A245-951F-9037-5E57-371F4FEFB90B}"/>
              </a:ext>
            </a:extLst>
          </p:cNvPr>
          <p:cNvGrpSpPr/>
          <p:nvPr/>
        </p:nvGrpSpPr>
        <p:grpSpPr>
          <a:xfrm>
            <a:off x="2043164" y="1747800"/>
            <a:ext cx="2008627" cy="1139268"/>
            <a:chOff x="2043164" y="1747800"/>
            <a:chExt cx="2008627" cy="1139268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29CA221-CC94-C568-E0B3-AC6A20DE3F83}"/>
                </a:ext>
              </a:extLst>
            </p:cNvPr>
            <p:cNvGrpSpPr/>
            <p:nvPr/>
          </p:nvGrpSpPr>
          <p:grpSpPr>
            <a:xfrm>
              <a:off x="2043164" y="1747800"/>
              <a:ext cx="2008627" cy="561999"/>
              <a:chOff x="2043164" y="1747800"/>
              <a:chExt cx="2008627" cy="561999"/>
            </a:xfrm>
          </p:grpSpPr>
          <p:sp>
            <p:nvSpPr>
              <p:cNvPr id="6" name="Decision 5">
                <a:extLst>
                  <a:ext uri="{FF2B5EF4-FFF2-40B4-BE49-F238E27FC236}">
                    <a16:creationId xmlns:a16="http://schemas.microsoft.com/office/drawing/2014/main" id="{67786728-FCF2-7918-410F-DA46F22E4739}"/>
                  </a:ext>
                </a:extLst>
              </p:cNvPr>
              <p:cNvSpPr/>
              <p:nvPr/>
            </p:nvSpPr>
            <p:spPr>
              <a:xfrm>
                <a:off x="3055798" y="1747800"/>
                <a:ext cx="995993" cy="561998"/>
              </a:xfrm>
              <a:prstGeom prst="flowChartDecis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OTP</a:t>
                </a:r>
              </a:p>
            </p:txBody>
          </p: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E72DF3C4-4B35-EADA-E51F-58F669811912}"/>
                  </a:ext>
                </a:extLst>
              </p:cNvPr>
              <p:cNvCxnSpPr>
                <a:stCxn id="3" idx="3"/>
                <a:endCxn id="6" idx="1"/>
              </p:cNvCxnSpPr>
              <p:nvPr/>
            </p:nvCxnSpPr>
            <p:spPr>
              <a:xfrm>
                <a:off x="2043164" y="2028799"/>
                <a:ext cx="1012634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Curved Connector 32">
                <a:extLst>
                  <a:ext uri="{FF2B5EF4-FFF2-40B4-BE49-F238E27FC236}">
                    <a16:creationId xmlns:a16="http://schemas.microsoft.com/office/drawing/2014/main" id="{7D534D70-6F65-254D-49D4-735CF03E9AE9}"/>
                  </a:ext>
                </a:extLst>
              </p:cNvPr>
              <p:cNvCxnSpPr>
                <a:stCxn id="6" idx="2"/>
                <a:endCxn id="6" idx="1"/>
              </p:cNvCxnSpPr>
              <p:nvPr/>
            </p:nvCxnSpPr>
            <p:spPr>
              <a:xfrm rot="5400000" flipH="1">
                <a:off x="3164297" y="1920301"/>
                <a:ext cx="280999" cy="497997"/>
              </a:xfrm>
              <a:prstGeom prst="curvedConnector4">
                <a:avLst>
                  <a:gd name="adj1" fmla="val -81353"/>
                  <a:gd name="adj2" fmla="val 145904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CE6DCE39-1F4F-E32D-E603-1DDE517CCE6B}"/>
                </a:ext>
              </a:extLst>
            </p:cNvPr>
            <p:cNvSpPr txBox="1"/>
            <p:nvPr/>
          </p:nvSpPr>
          <p:spPr>
            <a:xfrm>
              <a:off x="2730303" y="2579291"/>
              <a:ext cx="10535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Resend OTP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065B679-175F-B15D-EB8C-485408709AC9}"/>
              </a:ext>
            </a:extLst>
          </p:cNvPr>
          <p:cNvGrpSpPr/>
          <p:nvPr/>
        </p:nvGrpSpPr>
        <p:grpSpPr>
          <a:xfrm>
            <a:off x="2043163" y="4193419"/>
            <a:ext cx="1740698" cy="1154470"/>
            <a:chOff x="2043163" y="4193419"/>
            <a:chExt cx="1740698" cy="1154470"/>
          </a:xfrm>
        </p:grpSpPr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657508B9-E9E3-3F28-CA27-E17F48BDB091}"/>
                </a:ext>
              </a:extLst>
            </p:cNvPr>
            <p:cNvCxnSpPr>
              <a:cxnSpLocks/>
              <a:stCxn id="13" idx="3"/>
              <a:endCxn id="15" idx="1"/>
            </p:cNvCxnSpPr>
            <p:nvPr/>
          </p:nvCxnSpPr>
          <p:spPr>
            <a:xfrm>
              <a:off x="2043163" y="4470661"/>
              <a:ext cx="641867" cy="37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FFFE68B-D270-F1C4-E26C-15267C7D0E3E}"/>
                </a:ext>
              </a:extLst>
            </p:cNvPr>
            <p:cNvGrpSpPr/>
            <p:nvPr/>
          </p:nvGrpSpPr>
          <p:grpSpPr>
            <a:xfrm>
              <a:off x="2685030" y="4193419"/>
              <a:ext cx="1098831" cy="1154470"/>
              <a:chOff x="2685030" y="4193419"/>
              <a:chExt cx="1098831" cy="1154470"/>
            </a:xfrm>
          </p:grpSpPr>
          <p:cxnSp>
            <p:nvCxnSpPr>
              <p:cNvPr id="38" name="Curved Connector 37">
                <a:extLst>
                  <a:ext uri="{FF2B5EF4-FFF2-40B4-BE49-F238E27FC236}">
                    <a16:creationId xmlns:a16="http://schemas.microsoft.com/office/drawing/2014/main" id="{444AFB0E-53A3-FB64-CF22-E66DE3FA258B}"/>
                  </a:ext>
                </a:extLst>
              </p:cNvPr>
              <p:cNvCxnSpPr>
                <a:stCxn id="15" idx="2"/>
                <a:endCxn id="15" idx="1"/>
              </p:cNvCxnSpPr>
              <p:nvPr/>
            </p:nvCxnSpPr>
            <p:spPr>
              <a:xfrm rot="5400000" flipH="1">
                <a:off x="2793529" y="4365920"/>
                <a:ext cx="280999" cy="497997"/>
              </a:xfrm>
              <a:prstGeom prst="curvedConnector4">
                <a:avLst>
                  <a:gd name="adj1" fmla="val -81353"/>
                  <a:gd name="adj2" fmla="val 145904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BAD2F0A4-A72B-BB4F-4961-BE8875725C9E}"/>
                  </a:ext>
                </a:extLst>
              </p:cNvPr>
              <p:cNvGrpSpPr/>
              <p:nvPr/>
            </p:nvGrpSpPr>
            <p:grpSpPr>
              <a:xfrm>
                <a:off x="2685030" y="4193419"/>
                <a:ext cx="1098831" cy="1154470"/>
                <a:chOff x="2685030" y="4193419"/>
                <a:chExt cx="1098831" cy="1154470"/>
              </a:xfrm>
            </p:grpSpPr>
            <p:sp>
              <p:nvSpPr>
                <p:cNvPr id="15" name="Decision 14">
                  <a:extLst>
                    <a:ext uri="{FF2B5EF4-FFF2-40B4-BE49-F238E27FC236}">
                      <a16:creationId xmlns:a16="http://schemas.microsoft.com/office/drawing/2014/main" id="{1558CD95-F809-E187-B05C-76BC1AB9744C}"/>
                    </a:ext>
                  </a:extLst>
                </p:cNvPr>
                <p:cNvSpPr/>
                <p:nvPr/>
              </p:nvSpPr>
              <p:spPr>
                <a:xfrm>
                  <a:off x="2685030" y="4193419"/>
                  <a:ext cx="995993" cy="561998"/>
                </a:xfrm>
                <a:prstGeom prst="flowChartDecision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OTP</a:t>
                  </a:r>
                </a:p>
              </p:txBody>
            </p:sp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4EECE692-72C1-5858-F4BA-310F00E9E4B7}"/>
                    </a:ext>
                  </a:extLst>
                </p:cNvPr>
                <p:cNvSpPr txBox="1"/>
                <p:nvPr/>
              </p:nvSpPr>
              <p:spPr>
                <a:xfrm>
                  <a:off x="2730303" y="5040112"/>
                  <a:ext cx="105355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dirty="0"/>
                    <a:t>Resend OTP</a:t>
                  </a:r>
                </a:p>
              </p:txBody>
            </p:sp>
          </p:grpSp>
        </p:grp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0224957-EBB2-03BA-010C-7AD623137D94}"/>
              </a:ext>
            </a:extLst>
          </p:cNvPr>
          <p:cNvGrpSpPr/>
          <p:nvPr/>
        </p:nvGrpSpPr>
        <p:grpSpPr>
          <a:xfrm>
            <a:off x="1590440" y="506838"/>
            <a:ext cx="5754186" cy="1240962"/>
            <a:chOff x="1590440" y="506838"/>
            <a:chExt cx="5754186" cy="1240962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C4DF5F14-04E8-DD9E-0DCA-642878AF8A9D}"/>
                </a:ext>
              </a:extLst>
            </p:cNvPr>
            <p:cNvGrpSpPr/>
            <p:nvPr/>
          </p:nvGrpSpPr>
          <p:grpSpPr>
            <a:xfrm>
              <a:off x="3254004" y="506839"/>
              <a:ext cx="4090622" cy="1240961"/>
              <a:chOff x="3254004" y="506839"/>
              <a:chExt cx="4090622" cy="1240961"/>
            </a:xfrm>
          </p:grpSpPr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528E6D07-6517-17B7-EEDA-710A78DF933D}"/>
                  </a:ext>
                </a:extLst>
              </p:cNvPr>
              <p:cNvSpPr/>
              <p:nvPr/>
            </p:nvSpPr>
            <p:spPr>
              <a:xfrm>
                <a:off x="3254004" y="506840"/>
                <a:ext cx="905448" cy="56199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Admin</a:t>
                </a:r>
              </a:p>
            </p:txBody>
          </p:sp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8F1652F1-8A7B-3DEC-CA30-08FEAD8D28DD}"/>
                  </a:ext>
                </a:extLst>
              </p:cNvPr>
              <p:cNvSpPr/>
              <p:nvPr/>
            </p:nvSpPr>
            <p:spPr>
              <a:xfrm>
                <a:off x="4839429" y="513777"/>
                <a:ext cx="905448" cy="56199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Profile</a:t>
                </a:r>
              </a:p>
            </p:txBody>
          </p:sp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49864EFD-4516-6039-ED8D-301C6621A9C9}"/>
                  </a:ext>
                </a:extLst>
              </p:cNvPr>
              <p:cNvSpPr/>
              <p:nvPr/>
            </p:nvSpPr>
            <p:spPr>
              <a:xfrm>
                <a:off x="6439178" y="506839"/>
                <a:ext cx="905448" cy="56199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Sign Out</a:t>
                </a:r>
              </a:p>
            </p:txBody>
          </p: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BAB1935F-A06C-32A8-50CD-ED250AEBAF10}"/>
                  </a:ext>
                </a:extLst>
              </p:cNvPr>
              <p:cNvCxnSpPr>
                <a:stCxn id="7" idx="0"/>
                <a:endCxn id="8" idx="2"/>
              </p:cNvCxnSpPr>
              <p:nvPr/>
            </p:nvCxnSpPr>
            <p:spPr>
              <a:xfrm flipH="1" flipV="1">
                <a:off x="3706728" y="1068838"/>
                <a:ext cx="1599749" cy="67896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91470BFE-78F3-FBAC-911B-AD92135331BB}"/>
                  </a:ext>
                </a:extLst>
              </p:cNvPr>
              <p:cNvCxnSpPr>
                <a:stCxn id="7" idx="0"/>
                <a:endCxn id="9" idx="2"/>
              </p:cNvCxnSpPr>
              <p:nvPr/>
            </p:nvCxnSpPr>
            <p:spPr>
              <a:xfrm flipH="1" flipV="1">
                <a:off x="5292153" y="1075775"/>
                <a:ext cx="14324" cy="67202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638BA8CA-D9EB-FFF1-34B4-8CCD1118691D}"/>
                  </a:ext>
                </a:extLst>
              </p:cNvPr>
              <p:cNvCxnSpPr>
                <a:stCxn id="7" idx="0"/>
                <a:endCxn id="10" idx="2"/>
              </p:cNvCxnSpPr>
              <p:nvPr/>
            </p:nvCxnSpPr>
            <p:spPr>
              <a:xfrm flipV="1">
                <a:off x="5306477" y="1068837"/>
                <a:ext cx="1585425" cy="678963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" name="Curved Connector 4">
              <a:extLst>
                <a:ext uri="{FF2B5EF4-FFF2-40B4-BE49-F238E27FC236}">
                  <a16:creationId xmlns:a16="http://schemas.microsoft.com/office/drawing/2014/main" id="{952F5E97-6FEB-1B53-26B0-2B7A5D9E775C}"/>
                </a:ext>
              </a:extLst>
            </p:cNvPr>
            <p:cNvCxnSpPr>
              <a:stCxn id="10" idx="0"/>
              <a:endCxn id="3" idx="0"/>
            </p:cNvCxnSpPr>
            <p:nvPr/>
          </p:nvCxnSpPr>
          <p:spPr>
            <a:xfrm rot="16200000" flipH="1" flipV="1">
              <a:off x="3620690" y="-1523412"/>
              <a:ext cx="1240961" cy="5301462"/>
            </a:xfrm>
            <a:prstGeom prst="curvedConnector3">
              <a:avLst>
                <a:gd name="adj1" fmla="val -18421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42B44679-24E4-78D0-072B-3A2DAC62C0CA}"/>
              </a:ext>
            </a:extLst>
          </p:cNvPr>
          <p:cNvGrpSpPr/>
          <p:nvPr/>
        </p:nvGrpSpPr>
        <p:grpSpPr>
          <a:xfrm>
            <a:off x="4839429" y="2309798"/>
            <a:ext cx="905448" cy="2160863"/>
            <a:chOff x="4839429" y="2309798"/>
            <a:chExt cx="905448" cy="2160863"/>
          </a:xfrm>
        </p:grpSpPr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089B481E-BB92-249A-2191-D073E8B2A6CE}"/>
                </a:ext>
              </a:extLst>
            </p:cNvPr>
            <p:cNvSpPr/>
            <p:nvPr/>
          </p:nvSpPr>
          <p:spPr>
            <a:xfrm>
              <a:off x="4839429" y="3908663"/>
              <a:ext cx="905448" cy="561998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Query</a:t>
              </a: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B4A1BCD9-3283-451F-EF43-5B6AF15C229C}"/>
                </a:ext>
              </a:extLst>
            </p:cNvPr>
            <p:cNvCxnSpPr>
              <a:stCxn id="7" idx="2"/>
              <a:endCxn id="11" idx="0"/>
            </p:cNvCxnSpPr>
            <p:nvPr/>
          </p:nvCxnSpPr>
          <p:spPr>
            <a:xfrm flipH="1">
              <a:off x="5292153" y="2309798"/>
              <a:ext cx="14324" cy="159886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CF0125A0-00E0-B7EF-9B51-54A203DE9C43}"/>
              </a:ext>
            </a:extLst>
          </p:cNvPr>
          <p:cNvGrpSpPr/>
          <p:nvPr/>
        </p:nvGrpSpPr>
        <p:grpSpPr>
          <a:xfrm>
            <a:off x="5744877" y="2633159"/>
            <a:ext cx="1671647" cy="3116350"/>
            <a:chOff x="5744877" y="2633159"/>
            <a:chExt cx="1671647" cy="3116350"/>
          </a:xfrm>
        </p:grpSpPr>
        <p:sp>
          <p:nvSpPr>
            <p:cNvPr id="34" name="Rounded Rectangle 33">
              <a:extLst>
                <a:ext uri="{FF2B5EF4-FFF2-40B4-BE49-F238E27FC236}">
                  <a16:creationId xmlns:a16="http://schemas.microsoft.com/office/drawing/2014/main" id="{4A4D2C33-80FB-707E-F587-FA2C665EC273}"/>
                </a:ext>
              </a:extLst>
            </p:cNvPr>
            <p:cNvSpPr/>
            <p:nvPr/>
          </p:nvSpPr>
          <p:spPr>
            <a:xfrm>
              <a:off x="6511076" y="4548923"/>
              <a:ext cx="905448" cy="561998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Nmap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EDC5B14E-BC3C-0143-E189-126394810EFA}"/>
                </a:ext>
              </a:extLst>
            </p:cNvPr>
            <p:cNvSpPr/>
            <p:nvPr/>
          </p:nvSpPr>
          <p:spPr>
            <a:xfrm>
              <a:off x="6511076" y="2633159"/>
              <a:ext cx="905448" cy="561998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WHOIS</a:t>
              </a: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BB7B099D-F8E8-2AE9-966C-EC9741583DE3}"/>
                </a:ext>
              </a:extLst>
            </p:cNvPr>
            <p:cNvSpPr/>
            <p:nvPr/>
          </p:nvSpPr>
          <p:spPr>
            <a:xfrm>
              <a:off x="6511076" y="3271747"/>
              <a:ext cx="905448" cy="561998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DIG</a:t>
              </a:r>
            </a:p>
          </p:txBody>
        </p: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A1135898-68C8-0855-564C-CD8CD31CF64A}"/>
                </a:ext>
              </a:extLst>
            </p:cNvPr>
            <p:cNvCxnSpPr>
              <a:stCxn id="11" idx="3"/>
              <a:endCxn id="30" idx="1"/>
            </p:cNvCxnSpPr>
            <p:nvPr/>
          </p:nvCxnSpPr>
          <p:spPr>
            <a:xfrm flipV="1">
              <a:off x="5744877" y="2914158"/>
              <a:ext cx="766199" cy="127550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61CF7000-C655-FDDE-BCF5-C84C1A22BE86}"/>
                </a:ext>
              </a:extLst>
            </p:cNvPr>
            <p:cNvCxnSpPr>
              <a:stCxn id="11" idx="3"/>
              <a:endCxn id="32" idx="1"/>
            </p:cNvCxnSpPr>
            <p:nvPr/>
          </p:nvCxnSpPr>
          <p:spPr>
            <a:xfrm flipV="1">
              <a:off x="5744877" y="3552746"/>
              <a:ext cx="766199" cy="63691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E4D0D5C9-55AD-4C33-7AE0-0C258FF2E754}"/>
                </a:ext>
              </a:extLst>
            </p:cNvPr>
            <p:cNvCxnSpPr>
              <a:stCxn id="11" idx="3"/>
              <a:endCxn id="34" idx="1"/>
            </p:cNvCxnSpPr>
            <p:nvPr/>
          </p:nvCxnSpPr>
          <p:spPr>
            <a:xfrm>
              <a:off x="5744877" y="4189662"/>
              <a:ext cx="766199" cy="6402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Rounded Rectangle 64">
              <a:extLst>
                <a:ext uri="{FF2B5EF4-FFF2-40B4-BE49-F238E27FC236}">
                  <a16:creationId xmlns:a16="http://schemas.microsoft.com/office/drawing/2014/main" id="{11398FED-63B7-B88F-1944-D09A673BC4DE}"/>
                </a:ext>
              </a:extLst>
            </p:cNvPr>
            <p:cNvSpPr/>
            <p:nvPr/>
          </p:nvSpPr>
          <p:spPr>
            <a:xfrm>
              <a:off x="6511076" y="5187511"/>
              <a:ext cx="905448" cy="561998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API Calls</a:t>
              </a:r>
            </a:p>
          </p:txBody>
        </p: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8FC881C1-E34C-D18C-C54E-42393DC7FBE1}"/>
                </a:ext>
              </a:extLst>
            </p:cNvPr>
            <p:cNvCxnSpPr>
              <a:stCxn id="11" idx="3"/>
              <a:endCxn id="65" idx="1"/>
            </p:cNvCxnSpPr>
            <p:nvPr/>
          </p:nvCxnSpPr>
          <p:spPr>
            <a:xfrm>
              <a:off x="5744877" y="4189662"/>
              <a:ext cx="766199" cy="127884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C0ED6225-77AE-4E7C-2813-0E4C5236FF59}"/>
              </a:ext>
            </a:extLst>
          </p:cNvPr>
          <p:cNvGrpSpPr/>
          <p:nvPr/>
        </p:nvGrpSpPr>
        <p:grpSpPr>
          <a:xfrm>
            <a:off x="5759201" y="1747799"/>
            <a:ext cx="2979810" cy="3720711"/>
            <a:chOff x="5759201" y="1747799"/>
            <a:chExt cx="2979810" cy="3720711"/>
          </a:xfrm>
        </p:grpSpPr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1BD8C4E3-10F1-8879-90B2-02F723DFEBC0}"/>
                </a:ext>
              </a:extLst>
            </p:cNvPr>
            <p:cNvSpPr/>
            <p:nvPr/>
          </p:nvSpPr>
          <p:spPr>
            <a:xfrm>
              <a:off x="7833563" y="1747799"/>
              <a:ext cx="905448" cy="561998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Results</a:t>
              </a:r>
            </a:p>
          </p:txBody>
        </p: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57146CA9-BE0D-807D-7BB3-512BACFB4DB9}"/>
                </a:ext>
              </a:extLst>
            </p:cNvPr>
            <p:cNvCxnSpPr>
              <a:stCxn id="12" idx="1"/>
              <a:endCxn id="7" idx="3"/>
            </p:cNvCxnSpPr>
            <p:nvPr/>
          </p:nvCxnSpPr>
          <p:spPr>
            <a:xfrm flipH="1">
              <a:off x="5759201" y="2028798"/>
              <a:ext cx="2074362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Curved Connector 95">
              <a:extLst>
                <a:ext uri="{FF2B5EF4-FFF2-40B4-BE49-F238E27FC236}">
                  <a16:creationId xmlns:a16="http://schemas.microsoft.com/office/drawing/2014/main" id="{66985F80-F14A-779B-B783-47008C35270C}"/>
                </a:ext>
              </a:extLst>
            </p:cNvPr>
            <p:cNvCxnSpPr>
              <a:stCxn id="30" idx="3"/>
              <a:endCxn id="12" idx="2"/>
            </p:cNvCxnSpPr>
            <p:nvPr/>
          </p:nvCxnSpPr>
          <p:spPr>
            <a:xfrm flipV="1">
              <a:off x="7416524" y="2309797"/>
              <a:ext cx="869763" cy="604361"/>
            </a:xfrm>
            <a:prstGeom prst="curvedConnector2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Curved Connector 97">
              <a:extLst>
                <a:ext uri="{FF2B5EF4-FFF2-40B4-BE49-F238E27FC236}">
                  <a16:creationId xmlns:a16="http://schemas.microsoft.com/office/drawing/2014/main" id="{C4DDFC73-E0C7-8C4C-2CE0-355833D6CC71}"/>
                </a:ext>
              </a:extLst>
            </p:cNvPr>
            <p:cNvCxnSpPr>
              <a:stCxn id="32" idx="3"/>
              <a:endCxn id="12" idx="2"/>
            </p:cNvCxnSpPr>
            <p:nvPr/>
          </p:nvCxnSpPr>
          <p:spPr>
            <a:xfrm flipV="1">
              <a:off x="7416524" y="2309797"/>
              <a:ext cx="869763" cy="1242949"/>
            </a:xfrm>
            <a:prstGeom prst="curvedConnector2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Curved Connector 101">
              <a:extLst>
                <a:ext uri="{FF2B5EF4-FFF2-40B4-BE49-F238E27FC236}">
                  <a16:creationId xmlns:a16="http://schemas.microsoft.com/office/drawing/2014/main" id="{620A5A6D-0C7B-89C0-1882-A0F73D4239C8}"/>
                </a:ext>
              </a:extLst>
            </p:cNvPr>
            <p:cNvCxnSpPr>
              <a:stCxn id="65" idx="3"/>
              <a:endCxn id="12" idx="2"/>
            </p:cNvCxnSpPr>
            <p:nvPr/>
          </p:nvCxnSpPr>
          <p:spPr>
            <a:xfrm flipV="1">
              <a:off x="7416524" y="2309797"/>
              <a:ext cx="869763" cy="3158713"/>
            </a:xfrm>
            <a:prstGeom prst="curvedConnector2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urved Connector 104">
              <a:extLst>
                <a:ext uri="{FF2B5EF4-FFF2-40B4-BE49-F238E27FC236}">
                  <a16:creationId xmlns:a16="http://schemas.microsoft.com/office/drawing/2014/main" id="{7F488EC6-A454-03BF-3410-48212BFB55F6}"/>
                </a:ext>
              </a:extLst>
            </p:cNvPr>
            <p:cNvCxnSpPr>
              <a:stCxn id="34" idx="3"/>
              <a:endCxn id="12" idx="2"/>
            </p:cNvCxnSpPr>
            <p:nvPr/>
          </p:nvCxnSpPr>
          <p:spPr>
            <a:xfrm flipV="1">
              <a:off x="7416524" y="2309797"/>
              <a:ext cx="869763" cy="2520125"/>
            </a:xfrm>
            <a:prstGeom prst="curvedConnector2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1" name="Line Callout 2 (Accent Bar) 110">
            <a:extLst>
              <a:ext uri="{FF2B5EF4-FFF2-40B4-BE49-F238E27FC236}">
                <a16:creationId xmlns:a16="http://schemas.microsoft.com/office/drawing/2014/main" id="{6B3F23D2-7A27-0D14-CA13-4E510F63B485}"/>
              </a:ext>
            </a:extLst>
          </p:cNvPr>
          <p:cNvSpPr/>
          <p:nvPr/>
        </p:nvSpPr>
        <p:spPr>
          <a:xfrm>
            <a:off x="9415119" y="3833745"/>
            <a:ext cx="1370393" cy="2522605"/>
          </a:xfrm>
          <a:prstGeom prst="accent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65004"/>
              <a:gd name="adj6" fmla="val -14489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VPN</a:t>
            </a:r>
            <a:br>
              <a:rPr lang="en-US" sz="1400" dirty="0"/>
            </a:br>
            <a:r>
              <a:rPr lang="en-US" sz="1400" dirty="0"/>
              <a:t>Abstract</a:t>
            </a:r>
            <a:br>
              <a:rPr lang="en-US" sz="1400" dirty="0"/>
            </a:br>
            <a:r>
              <a:rPr lang="en-US" sz="1400" dirty="0" err="1"/>
              <a:t>Getipintel</a:t>
            </a:r>
            <a:br>
              <a:rPr lang="en-US" sz="1400" dirty="0"/>
            </a:br>
            <a:r>
              <a:rPr lang="en-US" sz="1400" dirty="0" err="1"/>
              <a:t>Ipdetective</a:t>
            </a:r>
            <a:br>
              <a:rPr lang="en-US" sz="1400" dirty="0"/>
            </a:br>
            <a:r>
              <a:rPr lang="en-US" sz="1400" dirty="0" err="1"/>
              <a:t>Ipgeolocation</a:t>
            </a:r>
            <a:br>
              <a:rPr lang="en-US" sz="1400" dirty="0"/>
            </a:br>
            <a:r>
              <a:rPr lang="en-US" sz="1400" dirty="0" err="1"/>
              <a:t>Ipinfo</a:t>
            </a:r>
            <a:br>
              <a:rPr lang="en-US" sz="1400" dirty="0"/>
            </a:br>
            <a:r>
              <a:rPr lang="en-US" sz="1400" dirty="0" err="1"/>
              <a:t>Ipqualityscore</a:t>
            </a:r>
            <a:br>
              <a:rPr lang="en-US" sz="1400" dirty="0"/>
            </a:br>
            <a:r>
              <a:rPr lang="en-US" sz="1400" dirty="0" err="1"/>
              <a:t>Ipregistry</a:t>
            </a:r>
            <a:br>
              <a:rPr lang="en-US" sz="1400" dirty="0"/>
            </a:br>
            <a:r>
              <a:rPr lang="en-US" sz="1400" dirty="0" err="1"/>
              <a:t>Proxycheck</a:t>
            </a:r>
            <a:br>
              <a:rPr lang="en-US" sz="1400" dirty="0"/>
            </a:br>
            <a:r>
              <a:rPr lang="en-US" sz="1400" dirty="0"/>
              <a:t>Neutrino</a:t>
            </a:r>
            <a:br>
              <a:rPr lang="en-US" sz="1400" dirty="0"/>
            </a:br>
            <a:r>
              <a:rPr lang="en-US" sz="1400" dirty="0" err="1"/>
              <a:t>Abuseip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4497608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1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52A36-31EB-9C42-EB0D-A19D551B4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5E7E02-8408-1638-753D-2C745DD616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 dirty="0"/>
              <a:t>IP Analyzer analyzes IP addresses/domains and provides useful information.</a:t>
            </a:r>
          </a:p>
          <a:p>
            <a:pPr>
              <a:lnSpc>
                <a:spcPct val="100000"/>
              </a:lnSpc>
            </a:pPr>
            <a:endParaRPr lang="en-US" dirty="0"/>
          </a:p>
          <a:p>
            <a:pPr>
              <a:lnSpc>
                <a:spcPct val="100000"/>
              </a:lnSpc>
            </a:pPr>
            <a:r>
              <a:rPr lang="en-US" dirty="0"/>
              <a:t>Has security features like web tokens, 2FA along with scalable design</a:t>
            </a:r>
          </a:p>
          <a:p>
            <a:pPr>
              <a:lnSpc>
                <a:spcPct val="100000"/>
              </a:lnSpc>
            </a:pPr>
            <a:endParaRPr lang="en-US" dirty="0"/>
          </a:p>
          <a:p>
            <a:pPr>
              <a:lnSpc>
                <a:spcPct val="100000"/>
              </a:lnSpc>
            </a:pPr>
            <a:r>
              <a:rPr lang="en-US" dirty="0"/>
              <a:t>Has modular design</a:t>
            </a:r>
          </a:p>
          <a:p>
            <a:pPr>
              <a:lnSpc>
                <a:spcPct val="100000"/>
              </a:lnSpc>
            </a:pPr>
            <a:endParaRPr lang="en-US" dirty="0"/>
          </a:p>
          <a:p>
            <a:pPr>
              <a:lnSpc>
                <a:spcPct val="100000"/>
              </a:lnSpc>
            </a:pPr>
            <a:endParaRPr lang="en-US" dirty="0"/>
          </a:p>
          <a:p>
            <a:pPr>
              <a:lnSpc>
                <a:spcPct val="100000"/>
              </a:lnSpc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D27A05-C6AF-4B79-4094-3381B766A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681E7-DB3C-4A49-B808-4F416837DBED}" type="slidenum">
              <a:rPr lang="en-US" smtClean="0"/>
              <a:t>9</a:t>
            </a:fld>
            <a:r>
              <a:rPr lang="en-US" dirty="0"/>
              <a:t>/12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901190-7F00-F0E8-ECA7-F86683C8C8EC}"/>
              </a:ext>
            </a:extLst>
          </p:cNvPr>
          <p:cNvSpPr txBox="1"/>
          <p:nvPr/>
        </p:nvSpPr>
        <p:spPr>
          <a:xfrm>
            <a:off x="440675" y="5772839"/>
            <a:ext cx="109131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Accepted Publication</a:t>
            </a:r>
            <a:r>
              <a:rPr lang="en-US" dirty="0"/>
              <a:t>: </a:t>
            </a:r>
            <a:r>
              <a:rPr lang="en-US" dirty="0" err="1"/>
              <a:t>Cebajel</a:t>
            </a:r>
            <a:r>
              <a:rPr lang="en-US" dirty="0"/>
              <a:t> </a:t>
            </a:r>
            <a:r>
              <a:rPr lang="en-US" dirty="0" err="1"/>
              <a:t>Tanan</a:t>
            </a:r>
            <a:r>
              <a:rPr lang="en-US" dirty="0"/>
              <a:t>, Sameer Kulkarni, Tamal Das, </a:t>
            </a:r>
            <a:r>
              <a:rPr lang="en-US" dirty="0" err="1"/>
              <a:t>Manjesh</a:t>
            </a:r>
            <a:r>
              <a:rPr lang="en-US" dirty="0"/>
              <a:t> </a:t>
            </a:r>
            <a:r>
              <a:rPr lang="en-US" dirty="0" err="1"/>
              <a:t>Hanawal</a:t>
            </a:r>
            <a:r>
              <a:rPr lang="en-US" dirty="0"/>
              <a:t>, “A Multi-Functional Web Tool for Comprehensive Threat Detection Through IP Address Analysis”, ICEI 2024.</a:t>
            </a:r>
          </a:p>
        </p:txBody>
      </p:sp>
    </p:spTree>
    <p:extLst>
      <p:ext uri="{BB962C8B-B14F-4D97-AF65-F5344CB8AC3E}">
        <p14:creationId xmlns:p14="http://schemas.microsoft.com/office/powerpoint/2010/main" val="38343063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CA6A1EC-85B2-79A7-186A-844B79B56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Demo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FD3B39B-922A-0126-A4C3-7600DBAFDB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681E7-DB3C-4A49-B808-4F416837DBED}" type="slidenum">
              <a:rPr lang="en-US" smtClean="0"/>
              <a:t>10</a:t>
            </a:fld>
            <a:r>
              <a:rPr lang="en-US" dirty="0"/>
              <a:t>/12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7E072A-4F3E-E131-D210-0B69D28BC2FA}"/>
              </a:ext>
            </a:extLst>
          </p:cNvPr>
          <p:cNvSpPr txBox="1"/>
          <p:nvPr/>
        </p:nvSpPr>
        <p:spPr>
          <a:xfrm>
            <a:off x="838200" y="5695720"/>
            <a:ext cx="32718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Available at: </a:t>
            </a:r>
            <a:r>
              <a:rPr lang="en-US" dirty="0">
                <a:hlinkClick r:id="rId2"/>
              </a:rPr>
              <a:t>https://</a:t>
            </a:r>
            <a:r>
              <a:rPr lang="en-US" dirty="0" err="1">
                <a:hlinkClick r:id="rId2"/>
              </a:rPr>
              <a:t>ipanalyzer.in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79087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B51EA7-3356-29E8-94A1-C23ACB1EE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Research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2DB77F-4D10-A5EF-5E7E-C840E716AF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Develop an algorithm to find IP masked behind VPN or TOR network.</a:t>
            </a:r>
          </a:p>
          <a:p>
            <a:endParaRPr lang="en-US" dirty="0"/>
          </a:p>
          <a:p>
            <a:r>
              <a:rPr lang="en-US" dirty="0"/>
              <a:t>Add admin features to edit or add API keys for different APIs.</a:t>
            </a:r>
          </a:p>
          <a:p>
            <a:endParaRPr lang="en-US" dirty="0"/>
          </a:p>
          <a:p>
            <a:r>
              <a:rPr lang="en-US" dirty="0"/>
              <a:t>Handle querying to databases without using any third party APIs.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CEC7AF-B9D6-D9FB-50F6-47125DC84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681E7-DB3C-4A49-B808-4F416837DBED}" type="slidenum">
              <a:rPr lang="en-US" smtClean="0"/>
              <a:t>11</a:t>
            </a:fld>
            <a:r>
              <a:rPr lang="en-US" dirty="0"/>
              <a:t>/12</a:t>
            </a:r>
          </a:p>
        </p:txBody>
      </p:sp>
    </p:spTree>
    <p:extLst>
      <p:ext uri="{BB962C8B-B14F-4D97-AF65-F5344CB8AC3E}">
        <p14:creationId xmlns:p14="http://schemas.microsoft.com/office/powerpoint/2010/main" val="7184183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3A9BE-FF8A-0398-B3F5-167C16AE69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/>
          <a:lstStyle/>
          <a:p>
            <a:r>
              <a:rPr lang="en-US" dirty="0"/>
              <a:t>Thank you</a:t>
            </a:r>
            <a:br>
              <a:rPr lang="en-US" dirty="0"/>
            </a:br>
            <a:r>
              <a:rPr lang="en-US" sz="2000" dirty="0"/>
              <a:t>Questions?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705077F-8773-ADB7-DC43-A780BAA2B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681E7-DB3C-4A49-B808-4F416837DBED}" type="slidenum">
              <a:rPr lang="en-US" smtClean="0"/>
              <a:t>12</a:t>
            </a:fld>
            <a:r>
              <a:rPr lang="en-US" dirty="0"/>
              <a:t>/12</a:t>
            </a:r>
          </a:p>
        </p:txBody>
      </p:sp>
    </p:spTree>
    <p:extLst>
      <p:ext uri="{BB962C8B-B14F-4D97-AF65-F5344CB8AC3E}">
        <p14:creationId xmlns:p14="http://schemas.microsoft.com/office/powerpoint/2010/main" val="26643331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457</TotalTime>
  <Words>382</Words>
  <Application>Microsoft Macintosh PowerPoint</Application>
  <PresentationFormat>Widescreen</PresentationFormat>
  <Paragraphs>109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Office Theme</vt:lpstr>
      <vt:lpstr>IP Analyzer</vt:lpstr>
      <vt:lpstr>Outline</vt:lpstr>
      <vt:lpstr>Introduction</vt:lpstr>
      <vt:lpstr>Design</vt:lpstr>
      <vt:lpstr>Database</vt:lpstr>
      <vt:lpstr>Features</vt:lpstr>
      <vt:lpstr>User Reports and Abuse Score</vt:lpstr>
      <vt:lpstr>PowerPoint Presentation</vt:lpstr>
      <vt:lpstr>Summary</vt:lpstr>
      <vt:lpstr>Demo</vt:lpstr>
      <vt:lpstr>Further Research</vt:lpstr>
      <vt:lpstr>Thank you 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IP Analyzer</dc:title>
  <dc:creator>Microsoft Office User</dc:creator>
  <cp:lastModifiedBy>Microsoft Office User</cp:lastModifiedBy>
  <cp:revision>158</cp:revision>
  <dcterms:created xsi:type="dcterms:W3CDTF">2024-01-07T12:56:46Z</dcterms:created>
  <dcterms:modified xsi:type="dcterms:W3CDTF">2024-11-27T10:38:35Z</dcterms:modified>
</cp:coreProperties>
</file>