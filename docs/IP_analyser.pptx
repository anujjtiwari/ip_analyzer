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7" r:id="rId9"/>
    <p:sldId id="262" r:id="rId10"/>
    <p:sldId id="263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9"/>
    <p:restoredTop sz="94609"/>
  </p:normalViewPr>
  <p:slideViewPr>
    <p:cSldViewPr snapToGrid="0">
      <p:cViewPr varScale="1">
        <p:scale>
          <a:sx n="79" d="100"/>
          <a:sy n="79" d="100"/>
        </p:scale>
        <p:origin x="94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55810-97CB-9546-938B-8000B30BFC2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152C-1717-9B41-8DA4-81E3AB3B9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4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32C4-E424-2B03-52C9-2A88A1E91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705D3-FEEB-547D-76AB-B40C905A0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5814-52B1-693B-CB5E-D0B682E9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1283F-D78B-D24B-8AF2-09D6AD9AFD24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1FB0D-47DB-17FC-F1B7-008D09BB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F38E-68F7-4417-D372-F560D423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7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BFB6-52A4-8D3E-9407-BAE6ED94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9CC7-1157-3897-B0C0-E361F3DB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2C811-3F63-9C69-C0B6-E67CD664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1454D-A4CA-DC4A-B243-34876CAA8093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5256B-1213-5C20-C9B2-EB9D0F81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EE07A-07AD-12D1-D942-F1E723ED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EAE8-4684-2BBF-4411-74F98D65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378E9-2300-40F0-12B3-73789C4DB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ABBBC-3DC8-837C-C747-B1AFF9F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CD136-4F4A-FD42-83BF-5DA8C96F46D8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BC291-A602-BD75-4245-B82A4194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023AF-F76E-6D90-027F-E289D435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1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9B5C-9DDB-DCA3-A6DD-BC2B4E7B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A1E38-59D7-1841-27F4-451323EA6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44CEB-0EC7-A6EF-D4B0-6B7E8F90C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9930-731E-6C3C-4999-3C1EC4B6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C430B-FDAC-B74D-8F9F-52E3D8368A32}" type="datetime1">
              <a:rPr lang="en-IN" smtClean="0"/>
              <a:t>15-01-2026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B8625-1C28-2EB3-B3F3-6687C078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35825-32EF-E811-0176-175C0E73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4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9918-E567-F4C8-6AD9-84692C4C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D5EBE-AFD6-43EC-52D9-76397B2A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F186-692A-F29D-7E4B-AD77D0631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15C3C-2D52-446E-6D41-F86717C144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5A4F6-BE7E-9F0A-9564-2FBF1FADD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99CEA-1894-3B3D-3FF1-4456F6BE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54645-7B48-3647-912F-AB6CF57CA4AA}" type="datetime1">
              <a:rPr lang="en-IN" smtClean="0"/>
              <a:t>15-01-2026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C991B-0F60-199E-1AD5-A0F7A869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E218B-04C8-80A8-3C41-EC1870C7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6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ECD0-06D3-E3EF-4855-57BAA2D6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639D1-5C94-EC4B-5401-AD060944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34290-FA9A-D048-A162-C5BE2BA9DB69}" type="datetime1">
              <a:rPr lang="en-IN" smtClean="0"/>
              <a:t>15-01-2026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11F25-54EC-C50F-886C-3B09B098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93169-D833-7930-E530-1177CC91B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4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5CBB5-612E-B25C-DA37-DCD4059C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27B7-FFBC-DD48-85B0-015E8BE4EF5D}" type="datetime1">
              <a:rPr lang="en-IN" smtClean="0"/>
              <a:t>15-01-2026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C3A40B-5C58-658B-2379-7FE4B842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1B58-0A8E-599B-5438-73C7D4B7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64F1-A5D5-2287-B739-0499C53E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1E85-D3B7-3D71-F778-3BB35225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573CE-E60B-288E-125C-EC1D16F6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DEEBA-7D9D-8D15-64DF-A8CD1934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08C84-82F3-ED41-A1C0-F1B02C6D2031}" type="datetime1">
              <a:rPr lang="en-IN" smtClean="0"/>
              <a:t>15-01-2026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FFAFC-92B8-4F5F-AB79-A5A97BAC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D464D-8016-8346-E5F2-428FDAE9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7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F2AB-FC1F-CFCB-8D12-3DDEA4C0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AD025-958E-9709-2198-043414C44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5C6E2-1CFB-C94C-6C50-ABF2C3A2F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461DC-B22B-4EB5-D09A-E2C7B33F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BAED-2C48-944D-A16D-CB2389784B12}" type="datetime1">
              <a:rPr lang="en-IN" smtClean="0"/>
              <a:t>15-01-2026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D1A88-ECA6-6FC7-E238-53EB34B8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2E909-B424-82CB-7287-E029836A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8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5112-F04A-8BA5-6CA7-8B4C107F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1EC71-4976-D59C-0882-67D03DECB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37603-66EF-AF3D-6319-62373874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64084-0EA2-F749-A398-206544F5E1BC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835FB-FA7A-B6F5-2217-0D52A9FD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17C9-7B53-3070-8F72-42CDCF0C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6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41A48-B78D-FB11-495C-43762C8A7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0C397-56F0-0D80-EE98-25CDEE519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9783-D91B-6B0E-A740-15BE29A0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DC0B-8293-484C-BD2F-928E78E8FBB1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CBA45-B1A8-2166-0FD3-F2FCB665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93AC4-05E3-2D0A-01C0-E7374D86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2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D5030-5D26-42D5-C308-34D9AF60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02AEC-AC02-5627-B142-6A5711FE1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75098-4BB4-C840-BB72-C35016AC2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14896-41AA-064A-80DB-EA737677DF7F}" type="datetime1">
              <a:rPr lang="en-IN" smtClean="0"/>
              <a:t>15-01-2026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16DC7-3459-4942-E578-A62492409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4D9D9-F988-F0D4-CD2D-6E55AB9C1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681E7-DB3C-4A49-B808-4F416837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0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panalyzer.in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5748-E573-3637-03A9-51F8E22CC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7F5EE-BAAE-EECC-3F27-40F9F5BF7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Anuj Tiwari</a:t>
            </a:r>
          </a:p>
        </p:txBody>
      </p:sp>
    </p:spTree>
    <p:extLst>
      <p:ext uri="{BB962C8B-B14F-4D97-AF65-F5344CB8AC3E}">
        <p14:creationId xmlns:p14="http://schemas.microsoft.com/office/powerpoint/2010/main" val="222716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0831-930C-60CF-DA78-F7563392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BA97-2F07-F6B5-4F1D-7E8B2F57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Features</a:t>
            </a:r>
          </a:p>
          <a:p>
            <a:r>
              <a:rPr lang="en-US" dirty="0"/>
              <a:t>Summary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Further Research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7B92A-3502-99AA-A581-FEC28A3C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2</a:t>
            </a:fld>
            <a:r>
              <a:rPr lang="en-US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4515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DD73-DD96-239C-FCC7-BBF7CBB8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6967F-72A9-CA36-0926-8C4836C1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IP Analyzer is an information gathering tool.</a:t>
            </a:r>
          </a:p>
          <a:p>
            <a:pPr>
              <a:lnSpc>
                <a:spcPct val="150000"/>
              </a:lnSpc>
            </a:pPr>
            <a:r>
              <a:rPr lang="en-US" dirty="0"/>
              <a:t>Has features dedicated for firms.</a:t>
            </a:r>
          </a:p>
          <a:p>
            <a:pPr>
              <a:lnSpc>
                <a:spcPct val="150000"/>
              </a:lnSpc>
            </a:pPr>
            <a:r>
              <a:rPr lang="en-US" dirty="0"/>
              <a:t>Analyzes IP addresses/domains and provides following information: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geo-location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host reputation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grey-list inspection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Whois</a:t>
            </a:r>
            <a:r>
              <a:rPr lang="en-US" dirty="0"/>
              <a:t> and Port Scanning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User Reports</a:t>
            </a:r>
          </a:p>
          <a:p>
            <a:pPr>
              <a:lnSpc>
                <a:spcPct val="100000"/>
              </a:lnSpc>
            </a:pPr>
            <a:r>
              <a:rPr lang="en-US" dirty="0"/>
              <a:t>Motivation: No tool found which provides all these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0AD44-EA3B-1240-38B3-5FC1CA0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3</a:t>
            </a:fld>
            <a:r>
              <a:rPr lang="en-US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34110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24CB-82F9-C4E0-962D-718B12E7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C8DAC-97E0-6CDB-3591-EF9158963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IP Analyzer is coded with Django as backend and Angular as frontend.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Multiple APIs are used for querying multiple databases across the world.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A292B-2267-225B-61BB-CC585E54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4</a:t>
            </a:fld>
            <a:r>
              <a:rPr lang="en-US" dirty="0"/>
              <a:t>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050FC-DACE-EFDB-41FD-B23DC7613AED}"/>
              </a:ext>
            </a:extLst>
          </p:cNvPr>
          <p:cNvSpPr txBox="1"/>
          <p:nvPr/>
        </p:nvSpPr>
        <p:spPr>
          <a:xfrm>
            <a:off x="838200" y="2637467"/>
            <a:ext cx="9833592" cy="2727653"/>
          </a:xfrm>
          <a:prstGeom prst="rect">
            <a:avLst/>
          </a:prstGeom>
          <a:noFill/>
        </p:spPr>
        <p:txBody>
          <a:bodyPr wrap="square" numCol="2" spcCol="7200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Why Django?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High Security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High Scalability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Python-Based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Why Angular?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Well Structured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High Flexibility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Two-way Data Binding</a:t>
            </a:r>
          </a:p>
        </p:txBody>
      </p:sp>
    </p:spTree>
    <p:extLst>
      <p:ext uri="{BB962C8B-B14F-4D97-AF65-F5344CB8AC3E}">
        <p14:creationId xmlns:p14="http://schemas.microsoft.com/office/powerpoint/2010/main" val="310036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47E0-D476-FEA5-36CB-D8F55744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9225-1888-8E71-630B-9F6CE2B3A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MongoDB is used for storing user credentials, logs and latest information of searched IP addresses/domains.</a:t>
            </a:r>
          </a:p>
          <a:p>
            <a:pPr>
              <a:lnSpc>
                <a:spcPct val="150000"/>
              </a:lnSpc>
            </a:pPr>
            <a:r>
              <a:rPr lang="en-US" dirty="0"/>
              <a:t>Why MongoDB?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Highly Scalable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Horizontal scaling features like replication and </a:t>
            </a:r>
            <a:r>
              <a:rPr lang="en-US" dirty="0" err="1"/>
              <a:t>sharding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Optimal Load Balancing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83A2B-7988-EE4E-D09A-16B14B40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5</a:t>
            </a:fld>
            <a:r>
              <a:rPr lang="en-US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78075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59EE-450B-3C78-307B-25F6BBC9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67383-A1F7-4AF4-BCED-596880257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IP Analyzer provides following features: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has option to retrieve cached information from database.</a:t>
            </a:r>
          </a:p>
          <a:p>
            <a:pPr>
              <a:lnSpc>
                <a:spcPct val="150000"/>
              </a:lnSpc>
            </a:pPr>
            <a:r>
              <a:rPr lang="en-US" dirty="0"/>
              <a:t>Uses web tokens to prevent CSRF attacks.</a:t>
            </a:r>
          </a:p>
          <a:p>
            <a:pPr>
              <a:lnSpc>
                <a:spcPct val="150000"/>
              </a:lnSpc>
            </a:pPr>
            <a:r>
              <a:rPr lang="en-US" dirty="0"/>
              <a:t>Two-factor Authentication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45C5D-5998-7BF3-18FB-65D79DF3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6</a:t>
            </a:fld>
            <a:r>
              <a:rPr lang="en-US" dirty="0"/>
              <a:t>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518B4-33A9-DF79-813F-C8FB1C7798F8}"/>
              </a:ext>
            </a:extLst>
          </p:cNvPr>
          <p:cNvSpPr txBox="1"/>
          <p:nvPr/>
        </p:nvSpPr>
        <p:spPr>
          <a:xfrm>
            <a:off x="838200" y="2408720"/>
            <a:ext cx="11062252" cy="1697068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IP Geolocation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Host reputation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Grey List Inspection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Port Scanning and Ping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WHOIS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User Reports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Abuse Score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237260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366E-A2FF-FAF5-BB83-7FC77896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Reports and Abuse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D187-2C48-E4B3-6DDB-8EC985BDC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dirty="0" err="1"/>
              <a:t>AbsueIPDB</a:t>
            </a:r>
            <a:r>
              <a:rPr lang="en-US" dirty="0"/>
              <a:t> to retrieve user reports and abuse score.</a:t>
            </a:r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AbuseIPDB</a:t>
            </a:r>
            <a:r>
              <a:rPr lang="en-US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Independent Score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Huge and frequently</a:t>
            </a:r>
            <a:br>
              <a:rPr lang="en-US" dirty="0"/>
            </a:br>
            <a:r>
              <a:rPr lang="en-US" dirty="0"/>
              <a:t> updated Database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Weighted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1C8C8-01FB-A52A-DB08-4D94AF26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7</a:t>
            </a:fld>
            <a:r>
              <a:rPr lang="en-US" dirty="0"/>
              <a:t>/12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18DA8D-0522-7151-D0A2-190F41505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1" y="2300820"/>
            <a:ext cx="6546575" cy="419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7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80994B-5352-70B1-8B3E-196B714D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5512" y="6356350"/>
            <a:ext cx="568287" cy="365125"/>
          </a:xfrm>
        </p:spPr>
        <p:txBody>
          <a:bodyPr/>
          <a:lstStyle/>
          <a:p>
            <a:fld id="{761681E7-DB3C-4A49-B808-4F416837DBED}" type="slidenum">
              <a:rPr lang="en-US" smtClean="0"/>
              <a:t>8</a:t>
            </a:fld>
            <a:r>
              <a:rPr lang="en-US" dirty="0"/>
              <a:t>/12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B151AA-4A90-2ABF-6B2A-164D1B7EF1BF}"/>
              </a:ext>
            </a:extLst>
          </p:cNvPr>
          <p:cNvSpPr/>
          <p:nvPr/>
        </p:nvSpPr>
        <p:spPr>
          <a:xfrm>
            <a:off x="1137715" y="4189662"/>
            <a:ext cx="905448" cy="5619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Sign Up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FB8112-119C-F90B-B749-EF9998563E24}"/>
              </a:ext>
            </a:extLst>
          </p:cNvPr>
          <p:cNvGrpSpPr/>
          <p:nvPr/>
        </p:nvGrpSpPr>
        <p:grpSpPr>
          <a:xfrm>
            <a:off x="4051791" y="1747800"/>
            <a:ext cx="1707410" cy="561998"/>
            <a:chOff x="4051791" y="1747800"/>
            <a:chExt cx="1707410" cy="56199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48CD848-5995-2817-CB4B-20236838D753}"/>
                </a:ext>
              </a:extLst>
            </p:cNvPr>
            <p:cNvSpPr/>
            <p:nvPr/>
          </p:nvSpPr>
          <p:spPr>
            <a:xfrm>
              <a:off x="4853753" y="1747800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Home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25482A8-A5B8-FB40-45A2-F2932C0B523A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>
              <a:off x="4051791" y="2028799"/>
              <a:ext cx="8019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3BA449-46C6-2588-6071-B1098F1768F9}"/>
              </a:ext>
            </a:extLst>
          </p:cNvPr>
          <p:cNvGrpSpPr/>
          <p:nvPr/>
        </p:nvGrpSpPr>
        <p:grpSpPr>
          <a:xfrm>
            <a:off x="1137716" y="1747800"/>
            <a:ext cx="2045312" cy="2445619"/>
            <a:chOff x="1137716" y="1747800"/>
            <a:chExt cx="2045312" cy="244561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CFF9C147-F6E3-8252-1F32-24B59BFB08C2}"/>
                </a:ext>
              </a:extLst>
            </p:cNvPr>
            <p:cNvSpPr/>
            <p:nvPr/>
          </p:nvSpPr>
          <p:spPr>
            <a:xfrm>
              <a:off x="1137716" y="1747800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Sign In</a:t>
              </a:r>
            </a:p>
          </p:txBody>
        </p:sp>
        <p:cxnSp>
          <p:nvCxnSpPr>
            <p:cNvPr id="42" name="Curved Connector 41">
              <a:extLst>
                <a:ext uri="{FF2B5EF4-FFF2-40B4-BE49-F238E27FC236}">
                  <a16:creationId xmlns:a16="http://schemas.microsoft.com/office/drawing/2014/main" id="{9EF2D18B-5A38-F01E-1C38-7FB006FC285B}"/>
                </a:ext>
              </a:extLst>
            </p:cNvPr>
            <p:cNvCxnSpPr>
              <a:stCxn id="15" idx="0"/>
              <a:endCxn id="3" idx="2"/>
            </p:cNvCxnSpPr>
            <p:nvPr/>
          </p:nvCxnSpPr>
          <p:spPr>
            <a:xfrm rot="16200000" flipV="1">
              <a:off x="1444924" y="2455315"/>
              <a:ext cx="1883621" cy="1592587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62A245-951F-9037-5E57-371F4FEFB90B}"/>
              </a:ext>
            </a:extLst>
          </p:cNvPr>
          <p:cNvGrpSpPr/>
          <p:nvPr/>
        </p:nvGrpSpPr>
        <p:grpSpPr>
          <a:xfrm>
            <a:off x="2043164" y="1747800"/>
            <a:ext cx="2008627" cy="1139268"/>
            <a:chOff x="2043164" y="1747800"/>
            <a:chExt cx="2008627" cy="113926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9CA221-CC94-C568-E0B3-AC6A20DE3F83}"/>
                </a:ext>
              </a:extLst>
            </p:cNvPr>
            <p:cNvGrpSpPr/>
            <p:nvPr/>
          </p:nvGrpSpPr>
          <p:grpSpPr>
            <a:xfrm>
              <a:off x="2043164" y="1747800"/>
              <a:ext cx="2008627" cy="561999"/>
              <a:chOff x="2043164" y="1747800"/>
              <a:chExt cx="2008627" cy="561999"/>
            </a:xfrm>
          </p:grpSpPr>
          <p:sp>
            <p:nvSpPr>
              <p:cNvPr id="6" name="Decision 5">
                <a:extLst>
                  <a:ext uri="{FF2B5EF4-FFF2-40B4-BE49-F238E27FC236}">
                    <a16:creationId xmlns:a16="http://schemas.microsoft.com/office/drawing/2014/main" id="{67786728-FCF2-7918-410F-DA46F22E4739}"/>
                  </a:ext>
                </a:extLst>
              </p:cNvPr>
              <p:cNvSpPr/>
              <p:nvPr/>
            </p:nvSpPr>
            <p:spPr>
              <a:xfrm>
                <a:off x="3055798" y="1747800"/>
                <a:ext cx="995993" cy="56199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OTP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72DF3C4-4B35-EADA-E51F-58F669811912}"/>
                  </a:ext>
                </a:extLst>
              </p:cNvPr>
              <p:cNvCxnSpPr>
                <a:stCxn id="3" idx="3"/>
                <a:endCxn id="6" idx="1"/>
              </p:cNvCxnSpPr>
              <p:nvPr/>
            </p:nvCxnSpPr>
            <p:spPr>
              <a:xfrm>
                <a:off x="2043164" y="2028799"/>
                <a:ext cx="101263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urved Connector 32">
                <a:extLst>
                  <a:ext uri="{FF2B5EF4-FFF2-40B4-BE49-F238E27FC236}">
                    <a16:creationId xmlns:a16="http://schemas.microsoft.com/office/drawing/2014/main" id="{7D534D70-6F65-254D-49D4-735CF03E9AE9}"/>
                  </a:ext>
                </a:extLst>
              </p:cNvPr>
              <p:cNvCxnSpPr>
                <a:stCxn id="6" idx="2"/>
                <a:endCxn id="6" idx="1"/>
              </p:cNvCxnSpPr>
              <p:nvPr/>
            </p:nvCxnSpPr>
            <p:spPr>
              <a:xfrm rot="5400000" flipH="1">
                <a:off x="3164297" y="1920301"/>
                <a:ext cx="280999" cy="497997"/>
              </a:xfrm>
              <a:prstGeom prst="curvedConnector4">
                <a:avLst>
                  <a:gd name="adj1" fmla="val -81353"/>
                  <a:gd name="adj2" fmla="val 145904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E6DCE39-1F4F-E32D-E603-1DDE517CCE6B}"/>
                </a:ext>
              </a:extLst>
            </p:cNvPr>
            <p:cNvSpPr txBox="1"/>
            <p:nvPr/>
          </p:nvSpPr>
          <p:spPr>
            <a:xfrm>
              <a:off x="2730303" y="2579291"/>
              <a:ext cx="10535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Resend OTP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65B679-175F-B15D-EB8C-485408709AC9}"/>
              </a:ext>
            </a:extLst>
          </p:cNvPr>
          <p:cNvGrpSpPr/>
          <p:nvPr/>
        </p:nvGrpSpPr>
        <p:grpSpPr>
          <a:xfrm>
            <a:off x="2043163" y="4193419"/>
            <a:ext cx="1740698" cy="1154470"/>
            <a:chOff x="2043163" y="4193419"/>
            <a:chExt cx="1740698" cy="1154470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57508B9-E9E3-3F28-CA27-E17F48BDB091}"/>
                </a:ext>
              </a:extLst>
            </p:cNvPr>
            <p:cNvCxnSpPr>
              <a:cxnSpLocks/>
              <a:stCxn id="13" idx="3"/>
              <a:endCxn id="15" idx="1"/>
            </p:cNvCxnSpPr>
            <p:nvPr/>
          </p:nvCxnSpPr>
          <p:spPr>
            <a:xfrm>
              <a:off x="2043163" y="4470661"/>
              <a:ext cx="641867" cy="37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FFFE68B-D270-F1C4-E26C-15267C7D0E3E}"/>
                </a:ext>
              </a:extLst>
            </p:cNvPr>
            <p:cNvGrpSpPr/>
            <p:nvPr/>
          </p:nvGrpSpPr>
          <p:grpSpPr>
            <a:xfrm>
              <a:off x="2685030" y="4193419"/>
              <a:ext cx="1098831" cy="1154470"/>
              <a:chOff x="2685030" y="4193419"/>
              <a:chExt cx="1098831" cy="1154470"/>
            </a:xfrm>
          </p:grpSpPr>
          <p:cxnSp>
            <p:nvCxnSpPr>
              <p:cNvPr id="38" name="Curved Connector 37">
                <a:extLst>
                  <a:ext uri="{FF2B5EF4-FFF2-40B4-BE49-F238E27FC236}">
                    <a16:creationId xmlns:a16="http://schemas.microsoft.com/office/drawing/2014/main" id="{444AFB0E-53A3-FB64-CF22-E66DE3FA258B}"/>
                  </a:ext>
                </a:extLst>
              </p:cNvPr>
              <p:cNvCxnSpPr>
                <a:stCxn id="15" idx="2"/>
                <a:endCxn id="15" idx="1"/>
              </p:cNvCxnSpPr>
              <p:nvPr/>
            </p:nvCxnSpPr>
            <p:spPr>
              <a:xfrm rot="5400000" flipH="1">
                <a:off x="2793529" y="4365920"/>
                <a:ext cx="280999" cy="497997"/>
              </a:xfrm>
              <a:prstGeom prst="curvedConnector4">
                <a:avLst>
                  <a:gd name="adj1" fmla="val -81353"/>
                  <a:gd name="adj2" fmla="val 145904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AD2F0A4-A72B-BB4F-4961-BE8875725C9E}"/>
                  </a:ext>
                </a:extLst>
              </p:cNvPr>
              <p:cNvGrpSpPr/>
              <p:nvPr/>
            </p:nvGrpSpPr>
            <p:grpSpPr>
              <a:xfrm>
                <a:off x="2685030" y="4193419"/>
                <a:ext cx="1098831" cy="1154470"/>
                <a:chOff x="2685030" y="4193419"/>
                <a:chExt cx="1098831" cy="1154470"/>
              </a:xfrm>
            </p:grpSpPr>
            <p:sp>
              <p:nvSpPr>
                <p:cNvPr id="15" name="Decision 14">
                  <a:extLst>
                    <a:ext uri="{FF2B5EF4-FFF2-40B4-BE49-F238E27FC236}">
                      <a16:creationId xmlns:a16="http://schemas.microsoft.com/office/drawing/2014/main" id="{1558CD95-F809-E187-B05C-76BC1AB9744C}"/>
                    </a:ext>
                  </a:extLst>
                </p:cNvPr>
                <p:cNvSpPr/>
                <p:nvPr/>
              </p:nvSpPr>
              <p:spPr>
                <a:xfrm>
                  <a:off x="2685030" y="4193419"/>
                  <a:ext cx="995993" cy="561998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OTP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ECE692-72C1-5858-F4BA-310F00E9E4B7}"/>
                    </a:ext>
                  </a:extLst>
                </p:cNvPr>
                <p:cNvSpPr txBox="1"/>
                <p:nvPr/>
              </p:nvSpPr>
              <p:spPr>
                <a:xfrm>
                  <a:off x="2730303" y="5040112"/>
                  <a:ext cx="105355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Resend OTP</a:t>
                  </a:r>
                </a:p>
              </p:txBody>
            </p:sp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224957-EBB2-03BA-010C-7AD623137D94}"/>
              </a:ext>
            </a:extLst>
          </p:cNvPr>
          <p:cNvGrpSpPr/>
          <p:nvPr/>
        </p:nvGrpSpPr>
        <p:grpSpPr>
          <a:xfrm>
            <a:off x="1590440" y="506838"/>
            <a:ext cx="5754186" cy="1240962"/>
            <a:chOff x="1590440" y="506838"/>
            <a:chExt cx="5754186" cy="12409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4DF5F14-04E8-DD9E-0DCA-642878AF8A9D}"/>
                </a:ext>
              </a:extLst>
            </p:cNvPr>
            <p:cNvGrpSpPr/>
            <p:nvPr/>
          </p:nvGrpSpPr>
          <p:grpSpPr>
            <a:xfrm>
              <a:off x="3254004" y="506839"/>
              <a:ext cx="4090622" cy="1240961"/>
              <a:chOff x="3254004" y="506839"/>
              <a:chExt cx="4090622" cy="1240961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28E6D07-6517-17B7-EEDA-710A78DF933D}"/>
                  </a:ext>
                </a:extLst>
              </p:cNvPr>
              <p:cNvSpPr/>
              <p:nvPr/>
            </p:nvSpPr>
            <p:spPr>
              <a:xfrm>
                <a:off x="3254004" y="506840"/>
                <a:ext cx="905448" cy="5619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Admin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F1652F1-8A7B-3DEC-CA30-08FEAD8D28DD}"/>
                  </a:ext>
                </a:extLst>
              </p:cNvPr>
              <p:cNvSpPr/>
              <p:nvPr/>
            </p:nvSpPr>
            <p:spPr>
              <a:xfrm>
                <a:off x="4839429" y="513777"/>
                <a:ext cx="905448" cy="5619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Profile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9864EFD-4516-6039-ED8D-301C6621A9C9}"/>
                  </a:ext>
                </a:extLst>
              </p:cNvPr>
              <p:cNvSpPr/>
              <p:nvPr/>
            </p:nvSpPr>
            <p:spPr>
              <a:xfrm>
                <a:off x="6439178" y="506839"/>
                <a:ext cx="905448" cy="5619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Sign Out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AB1935F-A06C-32A8-50CD-ED250AEBAF10}"/>
                  </a:ext>
                </a:extLst>
              </p:cNvPr>
              <p:cNvCxnSpPr>
                <a:stCxn id="7" idx="0"/>
                <a:endCxn id="8" idx="2"/>
              </p:cNvCxnSpPr>
              <p:nvPr/>
            </p:nvCxnSpPr>
            <p:spPr>
              <a:xfrm flipH="1" flipV="1">
                <a:off x="3706728" y="1068838"/>
                <a:ext cx="1599749" cy="6789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1470BFE-78F3-FBAC-911B-AD92135331BB}"/>
                  </a:ext>
                </a:extLst>
              </p:cNvPr>
              <p:cNvCxnSpPr>
                <a:stCxn id="7" idx="0"/>
                <a:endCxn id="9" idx="2"/>
              </p:cNvCxnSpPr>
              <p:nvPr/>
            </p:nvCxnSpPr>
            <p:spPr>
              <a:xfrm flipH="1" flipV="1">
                <a:off x="5292153" y="1075775"/>
                <a:ext cx="14324" cy="6720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38BA8CA-D9EB-FFF1-34B4-8CCD1118691D}"/>
                  </a:ext>
                </a:extLst>
              </p:cNvPr>
              <p:cNvCxnSpPr>
                <a:stCxn id="7" idx="0"/>
                <a:endCxn id="10" idx="2"/>
              </p:cNvCxnSpPr>
              <p:nvPr/>
            </p:nvCxnSpPr>
            <p:spPr>
              <a:xfrm flipV="1">
                <a:off x="5306477" y="1068837"/>
                <a:ext cx="1585425" cy="6789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Curved Connector 4">
              <a:extLst>
                <a:ext uri="{FF2B5EF4-FFF2-40B4-BE49-F238E27FC236}">
                  <a16:creationId xmlns:a16="http://schemas.microsoft.com/office/drawing/2014/main" id="{952F5E97-6FEB-1B53-26B0-2B7A5D9E775C}"/>
                </a:ext>
              </a:extLst>
            </p:cNvPr>
            <p:cNvCxnSpPr>
              <a:stCxn id="10" idx="0"/>
              <a:endCxn id="3" idx="0"/>
            </p:cNvCxnSpPr>
            <p:nvPr/>
          </p:nvCxnSpPr>
          <p:spPr>
            <a:xfrm rot="16200000" flipH="1" flipV="1">
              <a:off x="3620690" y="-1523412"/>
              <a:ext cx="1240961" cy="5301462"/>
            </a:xfrm>
            <a:prstGeom prst="curvedConnector3">
              <a:avLst>
                <a:gd name="adj1" fmla="val -184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B44679-24E4-78D0-072B-3A2DAC62C0CA}"/>
              </a:ext>
            </a:extLst>
          </p:cNvPr>
          <p:cNvGrpSpPr/>
          <p:nvPr/>
        </p:nvGrpSpPr>
        <p:grpSpPr>
          <a:xfrm>
            <a:off x="4839429" y="2309798"/>
            <a:ext cx="905448" cy="2160863"/>
            <a:chOff x="4839429" y="2309798"/>
            <a:chExt cx="905448" cy="216086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89B481E-BB92-249A-2191-D073E8B2A6CE}"/>
                </a:ext>
              </a:extLst>
            </p:cNvPr>
            <p:cNvSpPr/>
            <p:nvPr/>
          </p:nvSpPr>
          <p:spPr>
            <a:xfrm>
              <a:off x="4839429" y="3908663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Query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4A1BCD9-3283-451F-EF43-5B6AF15C229C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 flipH="1">
              <a:off x="5292153" y="2309798"/>
              <a:ext cx="14324" cy="1598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F0125A0-00E0-B7EF-9B51-54A203DE9C43}"/>
              </a:ext>
            </a:extLst>
          </p:cNvPr>
          <p:cNvGrpSpPr/>
          <p:nvPr/>
        </p:nvGrpSpPr>
        <p:grpSpPr>
          <a:xfrm>
            <a:off x="5744877" y="2633159"/>
            <a:ext cx="1671647" cy="3116350"/>
            <a:chOff x="5744877" y="2633159"/>
            <a:chExt cx="1671647" cy="3116350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4A4D2C33-80FB-707E-F587-FA2C665EC273}"/>
                </a:ext>
              </a:extLst>
            </p:cNvPr>
            <p:cNvSpPr/>
            <p:nvPr/>
          </p:nvSpPr>
          <p:spPr>
            <a:xfrm>
              <a:off x="6511076" y="4548923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Nmap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EDC5B14E-BC3C-0143-E189-126394810EFA}"/>
                </a:ext>
              </a:extLst>
            </p:cNvPr>
            <p:cNvSpPr/>
            <p:nvPr/>
          </p:nvSpPr>
          <p:spPr>
            <a:xfrm>
              <a:off x="6511076" y="2633159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WHOIS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BB7B099D-F8E8-2AE9-966C-EC9741583DE3}"/>
                </a:ext>
              </a:extLst>
            </p:cNvPr>
            <p:cNvSpPr/>
            <p:nvPr/>
          </p:nvSpPr>
          <p:spPr>
            <a:xfrm>
              <a:off x="6511076" y="3271747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DIG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1135898-68C8-0855-564C-CD8CD31CF64A}"/>
                </a:ext>
              </a:extLst>
            </p:cNvPr>
            <p:cNvCxnSpPr>
              <a:stCxn id="11" idx="3"/>
              <a:endCxn id="30" idx="1"/>
            </p:cNvCxnSpPr>
            <p:nvPr/>
          </p:nvCxnSpPr>
          <p:spPr>
            <a:xfrm flipV="1">
              <a:off x="5744877" y="2914158"/>
              <a:ext cx="766199" cy="12755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1CF7000-C655-FDDE-BCF5-C84C1A22BE86}"/>
                </a:ext>
              </a:extLst>
            </p:cNvPr>
            <p:cNvCxnSpPr>
              <a:stCxn id="11" idx="3"/>
              <a:endCxn id="32" idx="1"/>
            </p:cNvCxnSpPr>
            <p:nvPr/>
          </p:nvCxnSpPr>
          <p:spPr>
            <a:xfrm flipV="1">
              <a:off x="5744877" y="3552746"/>
              <a:ext cx="766199" cy="6369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4D0D5C9-55AD-4C33-7AE0-0C258FF2E754}"/>
                </a:ext>
              </a:extLst>
            </p:cNvPr>
            <p:cNvCxnSpPr>
              <a:stCxn id="11" idx="3"/>
              <a:endCxn id="34" idx="1"/>
            </p:cNvCxnSpPr>
            <p:nvPr/>
          </p:nvCxnSpPr>
          <p:spPr>
            <a:xfrm>
              <a:off x="5744877" y="4189662"/>
              <a:ext cx="766199" cy="640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11398FED-63B7-B88F-1944-D09A673BC4DE}"/>
                </a:ext>
              </a:extLst>
            </p:cNvPr>
            <p:cNvSpPr/>
            <p:nvPr/>
          </p:nvSpPr>
          <p:spPr>
            <a:xfrm>
              <a:off x="6511076" y="5187511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API Calls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FC881C1-E34C-D18C-C54E-42393DC7FBE1}"/>
                </a:ext>
              </a:extLst>
            </p:cNvPr>
            <p:cNvCxnSpPr>
              <a:stCxn id="11" idx="3"/>
              <a:endCxn id="65" idx="1"/>
            </p:cNvCxnSpPr>
            <p:nvPr/>
          </p:nvCxnSpPr>
          <p:spPr>
            <a:xfrm>
              <a:off x="5744877" y="4189662"/>
              <a:ext cx="766199" cy="12788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ED6225-77AE-4E7C-2813-0E4C5236FF59}"/>
              </a:ext>
            </a:extLst>
          </p:cNvPr>
          <p:cNvGrpSpPr/>
          <p:nvPr/>
        </p:nvGrpSpPr>
        <p:grpSpPr>
          <a:xfrm>
            <a:off x="5759201" y="1747799"/>
            <a:ext cx="2979810" cy="3720711"/>
            <a:chOff x="5759201" y="1747799"/>
            <a:chExt cx="2979810" cy="3720711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BD8C4E3-10F1-8879-90B2-02F723DFEBC0}"/>
                </a:ext>
              </a:extLst>
            </p:cNvPr>
            <p:cNvSpPr/>
            <p:nvPr/>
          </p:nvSpPr>
          <p:spPr>
            <a:xfrm>
              <a:off x="7833563" y="1747799"/>
              <a:ext cx="905448" cy="56199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Results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7146CA9-BE0D-807D-7BB3-512BACFB4DB9}"/>
                </a:ext>
              </a:extLst>
            </p:cNvPr>
            <p:cNvCxnSpPr>
              <a:stCxn id="12" idx="1"/>
              <a:endCxn id="7" idx="3"/>
            </p:cNvCxnSpPr>
            <p:nvPr/>
          </p:nvCxnSpPr>
          <p:spPr>
            <a:xfrm flipH="1">
              <a:off x="5759201" y="2028798"/>
              <a:ext cx="207436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urved Connector 95">
              <a:extLst>
                <a:ext uri="{FF2B5EF4-FFF2-40B4-BE49-F238E27FC236}">
                  <a16:creationId xmlns:a16="http://schemas.microsoft.com/office/drawing/2014/main" id="{66985F80-F14A-779B-B783-47008C35270C}"/>
                </a:ext>
              </a:extLst>
            </p:cNvPr>
            <p:cNvCxnSpPr>
              <a:stCxn id="30" idx="3"/>
              <a:endCxn id="12" idx="2"/>
            </p:cNvCxnSpPr>
            <p:nvPr/>
          </p:nvCxnSpPr>
          <p:spPr>
            <a:xfrm flipV="1">
              <a:off x="7416524" y="2309797"/>
              <a:ext cx="869763" cy="604361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urved Connector 97">
              <a:extLst>
                <a:ext uri="{FF2B5EF4-FFF2-40B4-BE49-F238E27FC236}">
                  <a16:creationId xmlns:a16="http://schemas.microsoft.com/office/drawing/2014/main" id="{C4DDFC73-E0C7-8C4C-2CE0-355833D6CC71}"/>
                </a:ext>
              </a:extLst>
            </p:cNvPr>
            <p:cNvCxnSpPr>
              <a:stCxn id="32" idx="3"/>
              <a:endCxn id="12" idx="2"/>
            </p:cNvCxnSpPr>
            <p:nvPr/>
          </p:nvCxnSpPr>
          <p:spPr>
            <a:xfrm flipV="1">
              <a:off x="7416524" y="2309797"/>
              <a:ext cx="869763" cy="1242949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620A5A6D-0C7B-89C0-1882-A0F73D4239C8}"/>
                </a:ext>
              </a:extLst>
            </p:cNvPr>
            <p:cNvCxnSpPr>
              <a:stCxn id="65" idx="3"/>
              <a:endCxn id="12" idx="2"/>
            </p:cNvCxnSpPr>
            <p:nvPr/>
          </p:nvCxnSpPr>
          <p:spPr>
            <a:xfrm flipV="1">
              <a:off x="7416524" y="2309797"/>
              <a:ext cx="869763" cy="3158713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7F488EC6-A454-03BF-3410-48212BFB55F6}"/>
                </a:ext>
              </a:extLst>
            </p:cNvPr>
            <p:cNvCxnSpPr>
              <a:stCxn id="34" idx="3"/>
              <a:endCxn id="12" idx="2"/>
            </p:cNvCxnSpPr>
            <p:nvPr/>
          </p:nvCxnSpPr>
          <p:spPr>
            <a:xfrm flipV="1">
              <a:off x="7416524" y="2309797"/>
              <a:ext cx="869763" cy="2520125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Line Callout 2 (Accent Bar) 110">
            <a:extLst>
              <a:ext uri="{FF2B5EF4-FFF2-40B4-BE49-F238E27FC236}">
                <a16:creationId xmlns:a16="http://schemas.microsoft.com/office/drawing/2014/main" id="{6B3F23D2-7A27-0D14-CA13-4E510F63B485}"/>
              </a:ext>
            </a:extLst>
          </p:cNvPr>
          <p:cNvSpPr/>
          <p:nvPr/>
        </p:nvSpPr>
        <p:spPr>
          <a:xfrm>
            <a:off x="9415119" y="3833745"/>
            <a:ext cx="1370393" cy="2522605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5004"/>
              <a:gd name="adj6" fmla="val -1448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VPN</a:t>
            </a:r>
            <a:br>
              <a:rPr lang="en-US" sz="1400" dirty="0"/>
            </a:br>
            <a:r>
              <a:rPr lang="en-US" sz="1400" dirty="0"/>
              <a:t>Abstract</a:t>
            </a:r>
            <a:br>
              <a:rPr lang="en-US" sz="1400" dirty="0"/>
            </a:br>
            <a:r>
              <a:rPr lang="en-US" sz="1400" dirty="0" err="1"/>
              <a:t>Getipintel</a:t>
            </a:r>
            <a:br>
              <a:rPr lang="en-US" sz="1400" dirty="0"/>
            </a:br>
            <a:r>
              <a:rPr lang="en-US" sz="1400" dirty="0" err="1"/>
              <a:t>Ipdetective</a:t>
            </a:r>
            <a:br>
              <a:rPr lang="en-US" sz="1400" dirty="0"/>
            </a:br>
            <a:r>
              <a:rPr lang="en-US" sz="1400" dirty="0" err="1"/>
              <a:t>Ipgeolocation</a:t>
            </a:r>
            <a:br>
              <a:rPr lang="en-US" sz="1400" dirty="0"/>
            </a:br>
            <a:r>
              <a:rPr lang="en-US" sz="1400" dirty="0" err="1"/>
              <a:t>Ipinfo</a:t>
            </a:r>
            <a:br>
              <a:rPr lang="en-US" sz="1400" dirty="0"/>
            </a:br>
            <a:r>
              <a:rPr lang="en-US" sz="1400" dirty="0" err="1"/>
              <a:t>Ipqualityscore</a:t>
            </a:r>
            <a:br>
              <a:rPr lang="en-US" sz="1400" dirty="0"/>
            </a:br>
            <a:r>
              <a:rPr lang="en-US" sz="1400" dirty="0" err="1"/>
              <a:t>Ipregistry</a:t>
            </a:r>
            <a:br>
              <a:rPr lang="en-US" sz="1400" dirty="0"/>
            </a:br>
            <a:r>
              <a:rPr lang="en-US" sz="1400" dirty="0" err="1"/>
              <a:t>Proxycheck</a:t>
            </a:r>
            <a:br>
              <a:rPr lang="en-US" sz="1400" dirty="0"/>
            </a:br>
            <a:r>
              <a:rPr lang="en-US" sz="1400" dirty="0"/>
              <a:t>Neutrino</a:t>
            </a:r>
            <a:br>
              <a:rPr lang="en-US" sz="1400" dirty="0"/>
            </a:br>
            <a:r>
              <a:rPr lang="en-US" sz="1400" dirty="0" err="1"/>
              <a:t>Abuseip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4976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2A36-31EB-9C42-EB0D-A19D551B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E7E02-8408-1638-753D-2C745DD6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IP Analyzer analyzes IP addresses/domains and provides useful information.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Has security features like web tokens, 2FA along with scalable design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Has modular design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27A05-C6AF-4B79-4094-3381B766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9</a:t>
            </a:fld>
            <a:r>
              <a:rPr lang="en-US" dirty="0"/>
              <a:t>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01190-7F00-F0E8-ECA7-F86683C8C8EC}"/>
              </a:ext>
            </a:extLst>
          </p:cNvPr>
          <p:cNvSpPr txBox="1"/>
          <p:nvPr/>
        </p:nvSpPr>
        <p:spPr>
          <a:xfrm>
            <a:off x="440675" y="5772839"/>
            <a:ext cx="10913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Accepted Publication</a:t>
            </a:r>
            <a:r>
              <a:rPr lang="en-US" dirty="0"/>
              <a:t>: </a:t>
            </a:r>
            <a:r>
              <a:rPr lang="en-US" dirty="0" err="1"/>
              <a:t>Cebajel</a:t>
            </a:r>
            <a:r>
              <a:rPr lang="en-US" dirty="0"/>
              <a:t> </a:t>
            </a:r>
            <a:r>
              <a:rPr lang="en-US" dirty="0" err="1"/>
              <a:t>Tanan</a:t>
            </a:r>
            <a:r>
              <a:rPr lang="en-US" dirty="0"/>
              <a:t>, Sameer Kulkarni, Tamal Das, </a:t>
            </a:r>
            <a:r>
              <a:rPr lang="en-US" dirty="0" err="1"/>
              <a:t>Manjesh</a:t>
            </a:r>
            <a:r>
              <a:rPr lang="en-US" dirty="0"/>
              <a:t> </a:t>
            </a:r>
            <a:r>
              <a:rPr lang="en-US" dirty="0" err="1"/>
              <a:t>Hanawal</a:t>
            </a:r>
            <a:r>
              <a:rPr lang="en-US" dirty="0"/>
              <a:t>, “A Multi-Functional Web Tool for Comprehensive Threat Detection Through IP Address Analysis”, ICEI 2024.</a:t>
            </a:r>
          </a:p>
        </p:txBody>
      </p:sp>
    </p:spTree>
    <p:extLst>
      <p:ext uri="{BB962C8B-B14F-4D97-AF65-F5344CB8AC3E}">
        <p14:creationId xmlns:p14="http://schemas.microsoft.com/office/powerpoint/2010/main" val="383430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A6A1EC-85B2-79A7-186A-844B79B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3B39B-922A-0126-A4C3-7600DBAF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10</a:t>
            </a:fld>
            <a:r>
              <a:rPr lang="en-US" dirty="0"/>
              <a:t>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7E072A-4F3E-E131-D210-0B69D28BC2FA}"/>
              </a:ext>
            </a:extLst>
          </p:cNvPr>
          <p:cNvSpPr txBox="1"/>
          <p:nvPr/>
        </p:nvSpPr>
        <p:spPr>
          <a:xfrm>
            <a:off x="838200" y="5695720"/>
            <a:ext cx="32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Available at: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ipanalyzer.in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0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1EA7-3356-29E8-94A1-C23ACB1E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DB77F-4D10-A5EF-5E7E-C840E716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an algorithm to find IP masked behind VPN or TOR network.</a:t>
            </a:r>
          </a:p>
          <a:p>
            <a:endParaRPr lang="en-US" dirty="0"/>
          </a:p>
          <a:p>
            <a:r>
              <a:rPr lang="en-US" dirty="0"/>
              <a:t>Add admin features to edit or add API keys for different APIs.</a:t>
            </a:r>
          </a:p>
          <a:p>
            <a:endParaRPr lang="en-US" dirty="0"/>
          </a:p>
          <a:p>
            <a:r>
              <a:rPr lang="en-US" dirty="0"/>
              <a:t>Handle querying to databases without using any third party APIs.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EC7AF-B9D6-D9FB-50F6-47125DC8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11</a:t>
            </a:fld>
            <a:r>
              <a:rPr lang="en-US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71841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A9BE-FF8A-0398-B3F5-167C16AE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sz="2000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05077F-8773-ADB7-DC43-A780BAA2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681E7-DB3C-4A49-B808-4F416837DBED}" type="slidenum">
              <a:rPr lang="en-US" smtClean="0"/>
              <a:t>12</a:t>
            </a:fld>
            <a:r>
              <a:rPr lang="en-US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66433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382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IP Analyzer</vt:lpstr>
      <vt:lpstr>Outline</vt:lpstr>
      <vt:lpstr>Introduction</vt:lpstr>
      <vt:lpstr>Design</vt:lpstr>
      <vt:lpstr>Database</vt:lpstr>
      <vt:lpstr>Features</vt:lpstr>
      <vt:lpstr>User Reports and Abuse Score</vt:lpstr>
      <vt:lpstr>PowerPoint Presentation</vt:lpstr>
      <vt:lpstr>Summary</vt:lpstr>
      <vt:lpstr>Demo</vt:lpstr>
      <vt:lpstr>Further Research</vt:lpstr>
      <vt:lpstr>Thank you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Analyzer</dc:title>
  <dc:creator>Microsoft Office User</dc:creator>
  <cp:lastModifiedBy>Anuj Tiwari</cp:lastModifiedBy>
  <cp:revision>159</cp:revision>
  <dcterms:created xsi:type="dcterms:W3CDTF">2024-01-07T12:56:46Z</dcterms:created>
  <dcterms:modified xsi:type="dcterms:W3CDTF">2026-01-15T08:59:02Z</dcterms:modified>
</cp:coreProperties>
</file>